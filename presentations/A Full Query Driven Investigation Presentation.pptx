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Hepta Slab Medium"/>
      <p:regular r:id="rId13"/>
      <p:bold r:id="rId14"/>
    </p:embeddedFont>
    <p:embeddedFont>
      <p:font typeface="Inter"/>
      <p:regular r:id="rId15"/>
      <p:bold r:id="rId16"/>
      <p:italic r:id="rId17"/>
      <p:boldItalic r:id="rId18"/>
    </p:embeddedFont>
    <p:embeddedFont>
      <p:font typeface="Barlow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bold.fntdata"/><Relationship Id="rId11" Type="http://schemas.openxmlformats.org/officeDocument/2006/relationships/slide" Target="slides/slide6.xml"/><Relationship Id="rId22" Type="http://schemas.openxmlformats.org/officeDocument/2006/relationships/font" Target="fonts/Barlow-boldItalic.fntdata"/><Relationship Id="rId10" Type="http://schemas.openxmlformats.org/officeDocument/2006/relationships/slide" Target="slides/slide5.xml"/><Relationship Id="rId21" Type="http://schemas.openxmlformats.org/officeDocument/2006/relationships/font" Target="fonts/Barlow-italic.fntdata"/><Relationship Id="rId13" Type="http://schemas.openxmlformats.org/officeDocument/2006/relationships/font" Target="fonts/HeptaSlabMedium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font" Target="fonts/HeptaSlabMedium-bold.fntdata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arlow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72c710d0d36c3b8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h72c710d0d36c3b8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8f6b7f9a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8f6b7f9ae_2_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8f6b7f9ae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f8f6b7f9ae_2_31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f6b7f9ae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8f6b7f9ae_2_5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f6b7f9ae_2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8f6b7f9ae_2_8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8f6b7f9ae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8f6b7f9ae_2_10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f6b7f9ae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f6b7f9ae_2_1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25000" lnSpcReduction="20000"/>
          </a:bodyPr>
          <a:lstStyle>
            <a:lvl1pPr lvl="0">
              <a:buNone/>
              <a:defRPr sz="1100">
                <a:solidFill>
                  <a:schemeClr val="accent2"/>
                </a:solidFill>
              </a:defRPr>
            </a:lvl1pPr>
            <a:lvl2pPr lvl="1">
              <a:buNone/>
              <a:defRPr sz="1100">
                <a:solidFill>
                  <a:schemeClr val="accent2"/>
                </a:solidFill>
              </a:defRPr>
            </a:lvl2pPr>
            <a:lvl3pPr lvl="2">
              <a:buNone/>
              <a:defRPr sz="1100">
                <a:solidFill>
                  <a:schemeClr val="accent2"/>
                </a:solidFill>
              </a:defRPr>
            </a:lvl3pPr>
            <a:lvl4pPr lvl="3">
              <a:buNone/>
              <a:defRPr sz="1100">
                <a:solidFill>
                  <a:schemeClr val="accent2"/>
                </a:solidFill>
              </a:defRPr>
            </a:lvl4pPr>
            <a:lvl5pPr lvl="4">
              <a:buNone/>
              <a:defRPr sz="1100">
                <a:solidFill>
                  <a:schemeClr val="accent2"/>
                </a:solidFill>
              </a:defRPr>
            </a:lvl5pPr>
            <a:lvl6pPr lvl="5">
              <a:buNone/>
              <a:defRPr sz="1100">
                <a:solidFill>
                  <a:schemeClr val="accent2"/>
                </a:solidFill>
              </a:defRPr>
            </a:lvl6pPr>
            <a:lvl7pPr lvl="6">
              <a:buNone/>
              <a:defRPr sz="1100">
                <a:solidFill>
                  <a:schemeClr val="accent2"/>
                </a:solidFill>
              </a:defRPr>
            </a:lvl7pPr>
            <a:lvl8pPr lvl="7">
              <a:buNone/>
              <a:defRPr sz="1100">
                <a:solidFill>
                  <a:schemeClr val="accent2"/>
                </a:solidFill>
              </a:defRPr>
            </a:lvl8pPr>
            <a:lvl9pPr lvl="8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idx="4294967295" type="title"/>
          </p:nvPr>
        </p:nvSpPr>
        <p:spPr>
          <a:xfrm>
            <a:off x="184925" y="250825"/>
            <a:ext cx="70392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Case Study:</a:t>
            </a:r>
            <a:endParaRPr b="1" sz="2000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By: Jason Man</a:t>
            </a:r>
            <a:endParaRPr sz="1500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By: Jason Man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8923425" y="0"/>
            <a:ext cx="2205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02D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421" y="2375450"/>
            <a:ext cx="4112352" cy="23132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365200" y="1520050"/>
            <a:ext cx="480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A Full Query Driven Investigation</a:t>
            </a:r>
            <a:endParaRPr b="1" sz="2000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Case Study: A Full Query-Driven Investigation</a:t>
            </a:r>
            <a:endParaRPr sz="1100"/>
          </a:p>
        </p:txBody>
      </p:sp>
      <p:sp>
        <p:nvSpPr>
          <p:cNvPr id="67" name="Google Shape;67;p15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How Splunk and Microsoft Sentinel build one investigation from different data sources</a:t>
            </a:r>
            <a:endParaRPr sz="1100"/>
          </a:p>
        </p:txBody>
      </p:sp>
      <p:sp>
        <p:nvSpPr>
          <p:cNvPr id="68" name="Google Shape;68;p15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69" name="Google Shape;69;p15"/>
          <p:cNvSpPr txBox="1"/>
          <p:nvPr/>
        </p:nvSpPr>
        <p:spPr>
          <a:xfrm>
            <a:off x="377200" y="925830"/>
            <a:ext cx="8092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investigation progresses by turning each confirmed finding into the next focused query</a:t>
            </a:r>
            <a:endParaRPr sz="1100"/>
          </a:p>
        </p:txBody>
      </p:sp>
      <p:sp>
        <p:nvSpPr>
          <p:cNvPr id="70" name="Google Shape;70;p15"/>
          <p:cNvSpPr/>
          <p:nvPr/>
        </p:nvSpPr>
        <p:spPr>
          <a:xfrm>
            <a:off x="445782" y="1474470"/>
            <a:ext cx="2366073" cy="222885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569229" y="1632204"/>
            <a:ext cx="329193" cy="329184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69229" y="1693926"/>
            <a:ext cx="32919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73" name="Google Shape;73;p15"/>
          <p:cNvSpPr txBox="1"/>
          <p:nvPr/>
        </p:nvSpPr>
        <p:spPr>
          <a:xfrm>
            <a:off x="1008153" y="1591056"/>
            <a:ext cx="16116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Splunk Search</a:t>
            </a:r>
            <a:endParaRPr sz="1100"/>
          </a:p>
        </p:txBody>
      </p:sp>
      <p:sp>
        <p:nvSpPr>
          <p:cNvPr id="74" name="Google Shape;74;p15"/>
          <p:cNvSpPr txBox="1"/>
          <p:nvPr/>
        </p:nvSpPr>
        <p:spPr>
          <a:xfrm>
            <a:off x="1008153" y="1892808"/>
            <a:ext cx="16116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E7E82"/>
                </a:solidFill>
                <a:latin typeface="Arial"/>
                <a:ea typeface="Arial"/>
                <a:cs typeface="Arial"/>
                <a:sym typeface="Arial"/>
              </a:rPr>
              <a:t>Authentication logs</a:t>
            </a:r>
            <a:endParaRPr sz="1100"/>
          </a:p>
        </p:txBody>
      </p:sp>
      <p:sp>
        <p:nvSpPr>
          <p:cNvPr id="75" name="Google Shape;75;p15"/>
          <p:cNvSpPr txBox="1"/>
          <p:nvPr/>
        </p:nvSpPr>
        <p:spPr>
          <a:xfrm>
            <a:off x="617236" y="2366010"/>
            <a:ext cx="202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Analyst c</a:t>
            </a: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onfirms suspicious login from unusual location </a:t>
            </a:r>
            <a:endParaRPr sz="1100"/>
          </a:p>
        </p:txBody>
      </p:sp>
      <p:sp>
        <p:nvSpPr>
          <p:cNvPr id="76" name="Google Shape;76;p15"/>
          <p:cNvSpPr/>
          <p:nvPr/>
        </p:nvSpPr>
        <p:spPr>
          <a:xfrm>
            <a:off x="3120473" y="1474470"/>
            <a:ext cx="2366073" cy="22288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243920" y="1632204"/>
            <a:ext cx="329193" cy="329184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243920" y="1693926"/>
            <a:ext cx="32919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79" name="Google Shape;79;p15"/>
          <p:cNvSpPr txBox="1"/>
          <p:nvPr/>
        </p:nvSpPr>
        <p:spPr>
          <a:xfrm>
            <a:off x="3682844" y="1591056"/>
            <a:ext cx="16116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Investigation Pivot</a:t>
            </a:r>
            <a:endParaRPr sz="1100"/>
          </a:p>
        </p:txBody>
      </p:sp>
      <p:sp>
        <p:nvSpPr>
          <p:cNvPr id="80" name="Google Shape;80;p15"/>
          <p:cNvSpPr txBox="1"/>
          <p:nvPr/>
        </p:nvSpPr>
        <p:spPr>
          <a:xfrm>
            <a:off x="3682844" y="1892808"/>
            <a:ext cx="16116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E7E82"/>
                </a:solidFill>
                <a:latin typeface="Arial"/>
                <a:ea typeface="Arial"/>
                <a:cs typeface="Arial"/>
                <a:sym typeface="Arial"/>
              </a:rPr>
              <a:t>Compromised account</a:t>
            </a:r>
            <a:endParaRPr sz="1100"/>
          </a:p>
        </p:txBody>
      </p:sp>
      <p:sp>
        <p:nvSpPr>
          <p:cNvPr id="81" name="Google Shape;81;p15"/>
          <p:cNvSpPr txBox="1"/>
          <p:nvPr/>
        </p:nvSpPr>
        <p:spPr>
          <a:xfrm>
            <a:off x="3291928" y="2366010"/>
            <a:ext cx="2023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Ask</a:t>
            </a:r>
            <a:r>
              <a:rPr lang="en" sz="1000">
                <a:solidFill>
                  <a:srgbClr val="191919"/>
                </a:solidFill>
              </a:rPr>
              <a:t>s: W</a:t>
            </a: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here else it appeared, what other s</a:t>
            </a:r>
            <a:r>
              <a:rPr lang="en" sz="1000">
                <a:solidFill>
                  <a:srgbClr val="191919"/>
                </a:solidFill>
              </a:rPr>
              <a:t>ystems were affected?</a:t>
            </a:r>
            <a:endParaRPr sz="1100"/>
          </a:p>
        </p:txBody>
      </p:sp>
      <p:sp>
        <p:nvSpPr>
          <p:cNvPr id="82" name="Google Shape;82;p15"/>
          <p:cNvSpPr/>
          <p:nvPr/>
        </p:nvSpPr>
        <p:spPr>
          <a:xfrm>
            <a:off x="5795164" y="1474470"/>
            <a:ext cx="2366073" cy="222885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918611" y="1632204"/>
            <a:ext cx="329193" cy="329184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918611" y="1693926"/>
            <a:ext cx="329193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85" name="Google Shape;85;p15"/>
          <p:cNvSpPr txBox="1"/>
          <p:nvPr/>
        </p:nvSpPr>
        <p:spPr>
          <a:xfrm>
            <a:off x="6357535" y="1591056"/>
            <a:ext cx="161167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Sentinel Query</a:t>
            </a:r>
            <a:endParaRPr sz="1100"/>
          </a:p>
        </p:txBody>
      </p:sp>
      <p:sp>
        <p:nvSpPr>
          <p:cNvPr id="86" name="Google Shape;86;p15"/>
          <p:cNvSpPr txBox="1"/>
          <p:nvPr/>
        </p:nvSpPr>
        <p:spPr>
          <a:xfrm>
            <a:off x="6357535" y="1892808"/>
            <a:ext cx="1611673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3E7E82"/>
                </a:solidFill>
                <a:latin typeface="Arial"/>
                <a:ea typeface="Arial"/>
                <a:cs typeface="Arial"/>
                <a:sym typeface="Arial"/>
              </a:rPr>
              <a:t>Broader cloud data</a:t>
            </a:r>
            <a:endParaRPr sz="1100"/>
          </a:p>
        </p:txBody>
      </p:sp>
      <p:sp>
        <p:nvSpPr>
          <p:cNvPr id="87" name="Google Shape;87;p15"/>
          <p:cNvSpPr txBox="1"/>
          <p:nvPr/>
        </p:nvSpPr>
        <p:spPr>
          <a:xfrm>
            <a:off x="5966618" y="2366010"/>
            <a:ext cx="202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</a:rPr>
              <a:t>F</a:t>
            </a: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ind additional </a:t>
            </a:r>
            <a:r>
              <a:rPr lang="en" sz="1000">
                <a:solidFill>
                  <a:srgbClr val="191919"/>
                </a:solidFill>
              </a:rPr>
              <a:t>compromised </a:t>
            </a:r>
            <a:r>
              <a:rPr lang="en" sz="1000">
                <a:solidFill>
                  <a:srgbClr val="191919"/>
                </a:solidFill>
              </a:rPr>
              <a:t>systems</a:t>
            </a:r>
            <a:endParaRPr sz="1100"/>
          </a:p>
        </p:txBody>
      </p:sp>
      <p:sp>
        <p:nvSpPr>
          <p:cNvPr id="88" name="Google Shape;88;p15"/>
          <p:cNvSpPr/>
          <p:nvPr/>
        </p:nvSpPr>
        <p:spPr>
          <a:xfrm>
            <a:off x="2846146" y="2366010"/>
            <a:ext cx="445782" cy="2606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520837" y="2366010"/>
            <a:ext cx="445782" cy="2606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377200" y="4375404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 sz="1100"/>
          </a:p>
        </p:txBody>
      </p:sp>
      <p:sp>
        <p:nvSpPr>
          <p:cNvPr id="91" name="Google Shape;91;p15"/>
          <p:cNvSpPr txBox="1"/>
          <p:nvPr/>
        </p:nvSpPr>
        <p:spPr>
          <a:xfrm>
            <a:off x="1268764" y="4375404"/>
            <a:ext cx="740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investigation becomes stronger when each platform answers the next question using the data it covers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Step 1: The Splunk Search</a:t>
            </a:r>
            <a:endParaRPr sz="1100"/>
          </a:p>
        </p:txBody>
      </p:sp>
      <p:sp>
        <p:nvSpPr>
          <p:cNvPr id="97" name="Google Shape;97;p16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Using authentication logs to confirm the initial signal</a:t>
            </a:r>
            <a:endParaRPr sz="1100"/>
          </a:p>
        </p:txBody>
      </p:sp>
      <p:sp>
        <p:nvSpPr>
          <p:cNvPr id="98" name="Google Shape;98;p16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99" name="Google Shape;99;p16"/>
          <p:cNvSpPr txBox="1"/>
          <p:nvPr/>
        </p:nvSpPr>
        <p:spPr>
          <a:xfrm>
            <a:off x="377200" y="89154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Splunk answers: </a:t>
            </a:r>
            <a:r>
              <a:rPr lang="en" sz="1100">
                <a:solidFill>
                  <a:srgbClr val="191919"/>
                </a:solidFill>
              </a:rPr>
              <a:t>D</a:t>
            </a: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oes the authentication evidence support the concern that the account is compromised?</a:t>
            </a:r>
            <a:endParaRPr sz="1100"/>
          </a:p>
        </p:txBody>
      </p:sp>
      <p:sp>
        <p:nvSpPr>
          <p:cNvPr id="100" name="Google Shape;100;p16"/>
          <p:cNvSpPr/>
          <p:nvPr/>
        </p:nvSpPr>
        <p:spPr>
          <a:xfrm>
            <a:off x="617236" y="1337310"/>
            <a:ext cx="2880437" cy="425196"/>
          </a:xfrm>
          <a:prstGeom prst="trapezoid">
            <a:avLst>
              <a:gd fmla="val 25000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617236" y="1460754"/>
            <a:ext cx="2880437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Authentication logs</a:t>
            </a:r>
            <a:endParaRPr sz="1100"/>
          </a:p>
        </p:txBody>
      </p:sp>
      <p:sp>
        <p:nvSpPr>
          <p:cNvPr id="102" name="Google Shape;102;p16"/>
          <p:cNvSpPr/>
          <p:nvPr/>
        </p:nvSpPr>
        <p:spPr>
          <a:xfrm>
            <a:off x="857273" y="1885950"/>
            <a:ext cx="2400364" cy="425196"/>
          </a:xfrm>
          <a:prstGeom prst="trapezoid">
            <a:avLst>
              <a:gd fmla="val 25000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857273" y="2009394"/>
            <a:ext cx="24003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Account activity</a:t>
            </a:r>
            <a:endParaRPr sz="1100"/>
          </a:p>
        </p:txBody>
      </p:sp>
      <p:sp>
        <p:nvSpPr>
          <p:cNvPr id="104" name="Google Shape;104;p16"/>
          <p:cNvSpPr/>
          <p:nvPr/>
        </p:nvSpPr>
        <p:spPr>
          <a:xfrm>
            <a:off x="1097309" y="2434590"/>
            <a:ext cx="1920291" cy="425196"/>
          </a:xfrm>
          <a:prstGeom prst="trapezoid">
            <a:avLst>
              <a:gd fmla="val 25000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097309" y="2558034"/>
            <a:ext cx="1920291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Unusual location</a:t>
            </a:r>
            <a:endParaRPr sz="1100"/>
          </a:p>
        </p:txBody>
      </p:sp>
      <p:sp>
        <p:nvSpPr>
          <p:cNvPr id="106" name="Google Shape;106;p16"/>
          <p:cNvSpPr/>
          <p:nvPr/>
        </p:nvSpPr>
        <p:spPr>
          <a:xfrm>
            <a:off x="1320200" y="2983229"/>
            <a:ext cx="1474509" cy="425196"/>
          </a:xfrm>
          <a:prstGeom prst="trapezoid">
            <a:avLst>
              <a:gd fmla="val 25000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1320200" y="3106673"/>
            <a:ext cx="1474509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Confirmed concern</a:t>
            </a:r>
            <a:endParaRPr sz="1100"/>
          </a:p>
        </p:txBody>
      </p:sp>
      <p:sp>
        <p:nvSpPr>
          <p:cNvPr id="108" name="Google Shape;108;p16"/>
          <p:cNvSpPr/>
          <p:nvPr/>
        </p:nvSpPr>
        <p:spPr>
          <a:xfrm>
            <a:off x="4183492" y="1371600"/>
            <a:ext cx="2023164" cy="85725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4306938" y="1467612"/>
            <a:ext cx="177626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Relevant Source</a:t>
            </a:r>
            <a:endParaRPr sz="1100"/>
          </a:p>
        </p:txBody>
      </p:sp>
      <p:sp>
        <p:nvSpPr>
          <p:cNvPr id="110" name="Google Shape;110;p16"/>
          <p:cNvSpPr txBox="1"/>
          <p:nvPr/>
        </p:nvSpPr>
        <p:spPr>
          <a:xfrm>
            <a:off x="4306938" y="1703446"/>
            <a:ext cx="1776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Authentication logs directly address the account-access question</a:t>
            </a:r>
            <a:endParaRPr sz="1100"/>
          </a:p>
        </p:txBody>
      </p:sp>
      <p:sp>
        <p:nvSpPr>
          <p:cNvPr id="111" name="Google Shape;111;p16"/>
          <p:cNvSpPr/>
          <p:nvPr/>
        </p:nvSpPr>
        <p:spPr>
          <a:xfrm>
            <a:off x="6530176" y="1387900"/>
            <a:ext cx="2023200" cy="8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653623" y="1483912"/>
            <a:ext cx="1776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Meaningful Finding</a:t>
            </a:r>
            <a:endParaRPr sz="1100"/>
          </a:p>
        </p:txBody>
      </p:sp>
      <p:sp>
        <p:nvSpPr>
          <p:cNvPr id="113" name="Google Shape;113;p16"/>
          <p:cNvSpPr txBox="1"/>
          <p:nvPr/>
        </p:nvSpPr>
        <p:spPr>
          <a:xfrm>
            <a:off x="6653623" y="1708394"/>
            <a:ext cx="1776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account logged in from an unusual location</a:t>
            </a:r>
            <a:endParaRPr sz="1100"/>
          </a:p>
        </p:txBody>
      </p:sp>
      <p:sp>
        <p:nvSpPr>
          <p:cNvPr id="114" name="Google Shape;114;p16"/>
          <p:cNvSpPr/>
          <p:nvPr/>
        </p:nvSpPr>
        <p:spPr>
          <a:xfrm>
            <a:off x="4183492" y="2503170"/>
            <a:ext cx="4252073" cy="106299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306938" y="2599182"/>
            <a:ext cx="400517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 sz="1100"/>
          </a:p>
        </p:txBody>
      </p:sp>
      <p:sp>
        <p:nvSpPr>
          <p:cNvPr id="116" name="Google Shape;116;p16"/>
          <p:cNvSpPr txBox="1"/>
          <p:nvPr/>
        </p:nvSpPr>
        <p:spPr>
          <a:xfrm>
            <a:off x="4306938" y="2836751"/>
            <a:ext cx="4005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search provides the initial confirmation needed to justify deeper investigation</a:t>
            </a:r>
            <a:endParaRPr sz="900">
              <a:solidFill>
                <a:srgbClr val="19191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9191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It does not need to answer the entire incident by itself but shows </a:t>
            </a:r>
            <a:r>
              <a:rPr lang="en" sz="900">
                <a:solidFill>
                  <a:srgbClr val="191919"/>
                </a:solidFill>
              </a:rPr>
              <a:t>evidence for a compromised account</a:t>
            </a:r>
            <a:endParaRPr sz="1100"/>
          </a:p>
        </p:txBody>
      </p:sp>
      <p:sp>
        <p:nvSpPr>
          <p:cNvPr id="117" name="Google Shape;117;p16"/>
          <p:cNvSpPr txBox="1"/>
          <p:nvPr/>
        </p:nvSpPr>
        <p:spPr>
          <a:xfrm>
            <a:off x="377200" y="4375404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 sz="1100"/>
          </a:p>
        </p:txBody>
      </p:sp>
      <p:sp>
        <p:nvSpPr>
          <p:cNvPr id="118" name="Google Shape;118;p16"/>
          <p:cNvSpPr txBox="1"/>
          <p:nvPr/>
        </p:nvSpPr>
        <p:spPr>
          <a:xfrm>
            <a:off x="1268764" y="4375404"/>
            <a:ext cx="740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Splunk establishes a supported starting point for the next investigative query</a:t>
            </a:r>
            <a:endParaRPr sz="1100"/>
          </a:p>
        </p:txBody>
      </p:sp>
      <p:sp>
        <p:nvSpPr>
          <p:cNvPr id="119" name="Google Shape;119;p16"/>
          <p:cNvSpPr/>
          <p:nvPr/>
        </p:nvSpPr>
        <p:spPr>
          <a:xfrm>
            <a:off x="6227416" y="1734263"/>
            <a:ext cx="282000" cy="26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Step 2: The Sentinel Query</a:t>
            </a:r>
            <a:endParaRPr sz="1100"/>
          </a:p>
        </p:txBody>
      </p:sp>
      <p:sp>
        <p:nvSpPr>
          <p:cNvPr id="125" name="Google Shape;125;p17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Following the compromised account across broader cloud-service data</a:t>
            </a:r>
            <a:endParaRPr sz="1100"/>
          </a:p>
        </p:txBody>
      </p:sp>
      <p:sp>
        <p:nvSpPr>
          <p:cNvPr id="126" name="Google Shape;126;p17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127" name="Google Shape;127;p17"/>
          <p:cNvSpPr txBox="1"/>
          <p:nvPr/>
        </p:nvSpPr>
        <p:spPr>
          <a:xfrm>
            <a:off x="377200" y="891540"/>
            <a:ext cx="8229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analyst pivots on the same account and asks a new question: </a:t>
            </a:r>
            <a:r>
              <a:rPr lang="en" sz="1100">
                <a:solidFill>
                  <a:srgbClr val="191919"/>
                </a:solidFill>
              </a:rPr>
              <a:t>W</a:t>
            </a: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hat other systems did this </a:t>
            </a:r>
            <a:r>
              <a:rPr lang="en" sz="1100">
                <a:solidFill>
                  <a:srgbClr val="191919"/>
                </a:solidFill>
              </a:rPr>
              <a:t>account</a:t>
            </a: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access?</a:t>
            </a:r>
            <a:endParaRPr sz="1100"/>
          </a:p>
        </p:txBody>
      </p:sp>
      <p:sp>
        <p:nvSpPr>
          <p:cNvPr id="128" name="Google Shape;128;p17"/>
          <p:cNvSpPr/>
          <p:nvPr/>
        </p:nvSpPr>
        <p:spPr>
          <a:xfrm>
            <a:off x="3669128" y="1783080"/>
            <a:ext cx="1748837" cy="925830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669128" y="1988820"/>
            <a:ext cx="1748837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Compromised</a:t>
            </a:r>
            <a:b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 sz="1100"/>
          </a:p>
        </p:txBody>
      </p:sp>
      <p:sp>
        <p:nvSpPr>
          <p:cNvPr id="130" name="Google Shape;130;p17"/>
          <p:cNvSpPr/>
          <p:nvPr/>
        </p:nvSpPr>
        <p:spPr>
          <a:xfrm>
            <a:off x="685818" y="1371600"/>
            <a:ext cx="1645964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685818" y="1556766"/>
            <a:ext cx="16459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Cloud Service</a:t>
            </a:r>
            <a:b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100"/>
          </a:p>
        </p:txBody>
      </p:sp>
      <p:sp>
        <p:nvSpPr>
          <p:cNvPr id="132" name="Google Shape;132;p17"/>
          <p:cNvSpPr/>
          <p:nvPr/>
        </p:nvSpPr>
        <p:spPr>
          <a:xfrm>
            <a:off x="685818" y="2914650"/>
            <a:ext cx="1645964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685818" y="3099815"/>
            <a:ext cx="16459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KQL Query</a:t>
            </a:r>
            <a:endParaRPr sz="1100"/>
          </a:p>
        </p:txBody>
      </p:sp>
      <p:sp>
        <p:nvSpPr>
          <p:cNvPr id="134" name="Google Shape;134;p17"/>
          <p:cNvSpPr/>
          <p:nvPr/>
        </p:nvSpPr>
        <p:spPr>
          <a:xfrm>
            <a:off x="6446692" y="1371600"/>
            <a:ext cx="1645964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6446692" y="1556766"/>
            <a:ext cx="16459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Additional</a:t>
            </a:r>
            <a:b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Systems</a:t>
            </a:r>
            <a:endParaRPr sz="1100"/>
          </a:p>
        </p:txBody>
      </p:sp>
      <p:sp>
        <p:nvSpPr>
          <p:cNvPr id="136" name="Google Shape;136;p17"/>
          <p:cNvSpPr/>
          <p:nvPr/>
        </p:nvSpPr>
        <p:spPr>
          <a:xfrm>
            <a:off x="6446692" y="2914650"/>
            <a:ext cx="1645964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446692" y="3099815"/>
            <a:ext cx="164596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Expanded</a:t>
            </a:r>
            <a:b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sz="1100"/>
          </a:p>
        </p:txBody>
      </p:sp>
      <p:cxnSp>
        <p:nvCxnSpPr>
          <p:cNvPr id="138" name="Google Shape;138;p17"/>
          <p:cNvCxnSpPr/>
          <p:nvPr/>
        </p:nvCxnSpPr>
        <p:spPr>
          <a:xfrm>
            <a:off x="2331782" y="1714500"/>
            <a:ext cx="1337346" cy="411480"/>
          </a:xfrm>
          <a:prstGeom prst="straightConnector1">
            <a:avLst/>
          </a:prstGeom>
          <a:noFill/>
          <a:ln cap="flat" cmpd="sng" w="25400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9" name="Google Shape;139;p17"/>
          <p:cNvCxnSpPr/>
          <p:nvPr/>
        </p:nvCxnSpPr>
        <p:spPr>
          <a:xfrm flipH="1" rot="10800000">
            <a:off x="2331782" y="2434590"/>
            <a:ext cx="1337346" cy="822960"/>
          </a:xfrm>
          <a:prstGeom prst="straightConnector1">
            <a:avLst/>
          </a:prstGeom>
          <a:noFill/>
          <a:ln cap="flat" cmpd="sng" w="25400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0" name="Google Shape;140;p17"/>
          <p:cNvCxnSpPr/>
          <p:nvPr/>
        </p:nvCxnSpPr>
        <p:spPr>
          <a:xfrm flipH="1" rot="10800000">
            <a:off x="5417964" y="1714500"/>
            <a:ext cx="1028727" cy="411480"/>
          </a:xfrm>
          <a:prstGeom prst="straightConnector1">
            <a:avLst/>
          </a:prstGeom>
          <a:noFill/>
          <a:ln cap="flat" cmpd="sng" w="25400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41" name="Google Shape;141;p17"/>
          <p:cNvCxnSpPr/>
          <p:nvPr/>
        </p:nvCxnSpPr>
        <p:spPr>
          <a:xfrm>
            <a:off x="5417964" y="2434590"/>
            <a:ext cx="1028727" cy="822960"/>
          </a:xfrm>
          <a:prstGeom prst="straightConnector1">
            <a:avLst/>
          </a:prstGeom>
          <a:noFill/>
          <a:ln cap="flat" cmpd="sng" w="25400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2" name="Google Shape;142;p17"/>
          <p:cNvSpPr txBox="1"/>
          <p:nvPr/>
        </p:nvSpPr>
        <p:spPr>
          <a:xfrm>
            <a:off x="377200" y="4375404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 sz="1100"/>
          </a:p>
        </p:txBody>
      </p:sp>
      <p:sp>
        <p:nvSpPr>
          <p:cNvPr id="143" name="Google Shape;143;p17"/>
          <p:cNvSpPr txBox="1"/>
          <p:nvPr/>
        </p:nvSpPr>
        <p:spPr>
          <a:xfrm>
            <a:off x="1268764" y="4375404"/>
            <a:ext cx="740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Sentinel extends the investigation because its broader data coverage can reveal activity the first search did not include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How Query-Driven Investigation Works</a:t>
            </a:r>
            <a:endParaRPr sz="1100"/>
          </a:p>
        </p:txBody>
      </p:sp>
      <p:sp>
        <p:nvSpPr>
          <p:cNvPr id="149" name="Google Shape;149;p18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Each answer creates the context for the next question</a:t>
            </a:r>
            <a:endParaRPr sz="1100"/>
          </a:p>
        </p:txBody>
      </p:sp>
      <p:sp>
        <p:nvSpPr>
          <p:cNvPr id="150" name="Google Shape;150;p18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151" name="Google Shape;151;p18"/>
          <p:cNvSpPr txBox="1"/>
          <p:nvPr/>
        </p:nvSpPr>
        <p:spPr>
          <a:xfrm>
            <a:off x="377200" y="891540"/>
            <a:ext cx="8092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The platforms are connected by the investigation logic.</a:t>
            </a:r>
            <a:endParaRPr sz="1100"/>
          </a:p>
        </p:txBody>
      </p:sp>
      <p:sp>
        <p:nvSpPr>
          <p:cNvPr id="152" name="Google Shape;152;p18"/>
          <p:cNvSpPr/>
          <p:nvPr/>
        </p:nvSpPr>
        <p:spPr>
          <a:xfrm>
            <a:off x="754400" y="1440180"/>
            <a:ext cx="2297491" cy="92583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877847" y="1536192"/>
            <a:ext cx="205059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1  Ask</a:t>
            </a:r>
            <a:endParaRPr sz="1100"/>
          </a:p>
        </p:txBody>
      </p:sp>
      <p:sp>
        <p:nvSpPr>
          <p:cNvPr id="154" name="Google Shape;154;p18"/>
          <p:cNvSpPr txBox="1"/>
          <p:nvPr/>
        </p:nvSpPr>
        <p:spPr>
          <a:xfrm>
            <a:off x="877847" y="1865376"/>
            <a:ext cx="205059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Was the login suspicious?</a:t>
            </a:r>
            <a:endParaRPr sz="1100"/>
          </a:p>
        </p:txBody>
      </p:sp>
      <p:sp>
        <p:nvSpPr>
          <p:cNvPr id="155" name="Google Shape;155;p18"/>
          <p:cNvSpPr/>
          <p:nvPr/>
        </p:nvSpPr>
        <p:spPr>
          <a:xfrm>
            <a:off x="6103783" y="1440180"/>
            <a:ext cx="2297491" cy="92583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227230" y="1536192"/>
            <a:ext cx="205059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2  Confirm</a:t>
            </a:r>
            <a:endParaRPr sz="1100"/>
          </a:p>
        </p:txBody>
      </p:sp>
      <p:sp>
        <p:nvSpPr>
          <p:cNvPr id="157" name="Google Shape;157;p18"/>
          <p:cNvSpPr txBox="1"/>
          <p:nvPr/>
        </p:nvSpPr>
        <p:spPr>
          <a:xfrm>
            <a:off x="6227230" y="1865376"/>
            <a:ext cx="205059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Splunk confirms unusual authentication</a:t>
            </a:r>
            <a:endParaRPr sz="1100"/>
          </a:p>
        </p:txBody>
      </p:sp>
      <p:sp>
        <p:nvSpPr>
          <p:cNvPr id="158" name="Google Shape;158;p18"/>
          <p:cNvSpPr/>
          <p:nvPr/>
        </p:nvSpPr>
        <p:spPr>
          <a:xfrm>
            <a:off x="6103783" y="3120390"/>
            <a:ext cx="2297491" cy="92583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227230" y="3216402"/>
            <a:ext cx="205059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3  Pivot</a:t>
            </a:r>
            <a:endParaRPr sz="1100"/>
          </a:p>
        </p:txBody>
      </p:sp>
      <p:sp>
        <p:nvSpPr>
          <p:cNvPr id="160" name="Google Shape;160;p18"/>
          <p:cNvSpPr txBox="1"/>
          <p:nvPr/>
        </p:nvSpPr>
        <p:spPr>
          <a:xfrm>
            <a:off x="6227230" y="3545586"/>
            <a:ext cx="205059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Where else did the account appear?</a:t>
            </a:r>
            <a:endParaRPr sz="1100"/>
          </a:p>
        </p:txBody>
      </p:sp>
      <p:sp>
        <p:nvSpPr>
          <p:cNvPr id="161" name="Google Shape;161;p18"/>
          <p:cNvSpPr/>
          <p:nvPr/>
        </p:nvSpPr>
        <p:spPr>
          <a:xfrm>
            <a:off x="754400" y="3120390"/>
            <a:ext cx="2297491" cy="92583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877847" y="3216402"/>
            <a:ext cx="205059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4  Expand</a:t>
            </a:r>
            <a:endParaRPr sz="1100"/>
          </a:p>
        </p:txBody>
      </p:sp>
      <p:sp>
        <p:nvSpPr>
          <p:cNvPr id="163" name="Google Shape;163;p18"/>
          <p:cNvSpPr txBox="1"/>
          <p:nvPr/>
        </p:nvSpPr>
        <p:spPr>
          <a:xfrm>
            <a:off x="877847" y="3545586"/>
            <a:ext cx="2050597" cy="3909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Sentinel surfaces additional systems</a:t>
            </a:r>
            <a:endParaRPr sz="1100"/>
          </a:p>
        </p:txBody>
      </p:sp>
      <p:sp>
        <p:nvSpPr>
          <p:cNvPr id="164" name="Google Shape;164;p18"/>
          <p:cNvSpPr/>
          <p:nvPr/>
        </p:nvSpPr>
        <p:spPr>
          <a:xfrm>
            <a:off x="3840582" y="1748790"/>
            <a:ext cx="891564" cy="2606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7029637" y="2434590"/>
            <a:ext cx="308618" cy="48006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3840582" y="3429000"/>
            <a:ext cx="891564" cy="26060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1748837" y="2434590"/>
            <a:ext cx="308618" cy="48006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77200" y="4375404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 sz="1100"/>
          </a:p>
        </p:txBody>
      </p:sp>
      <p:sp>
        <p:nvSpPr>
          <p:cNvPr id="169" name="Google Shape;169;p18"/>
          <p:cNvSpPr txBox="1"/>
          <p:nvPr/>
        </p:nvSpPr>
        <p:spPr>
          <a:xfrm>
            <a:off x="1268764" y="4375404"/>
            <a:ext cx="740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 query is most useful when it is tied to a specific investigative question and informed by the evidence already confirmed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The Outcome: Properly Scoping the Incident</a:t>
            </a:r>
            <a:endParaRPr sz="1100"/>
          </a:p>
        </p:txBody>
      </p:sp>
      <p:sp>
        <p:nvSpPr>
          <p:cNvPr id="175" name="Google Shape;175;p19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Different visibility combines into a more complete incident picture</a:t>
            </a:r>
            <a:endParaRPr sz="1100"/>
          </a:p>
        </p:txBody>
      </p:sp>
      <p:sp>
        <p:nvSpPr>
          <p:cNvPr id="176" name="Google Shape;176;p19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177" name="Google Shape;177;p19"/>
          <p:cNvSpPr txBox="1"/>
          <p:nvPr/>
        </p:nvSpPr>
        <p:spPr>
          <a:xfrm>
            <a:off x="377200" y="891540"/>
            <a:ext cx="822981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Neither result is discarded; the analyst combines what each platform contributes to define the response scope.</a:t>
            </a:r>
            <a:endParaRPr sz="1100"/>
          </a:p>
        </p:txBody>
      </p:sp>
      <p:sp>
        <p:nvSpPr>
          <p:cNvPr id="178" name="Google Shape;178;p19"/>
          <p:cNvSpPr/>
          <p:nvPr/>
        </p:nvSpPr>
        <p:spPr>
          <a:xfrm>
            <a:off x="685818" y="1440180"/>
            <a:ext cx="3429091" cy="226314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006473" y="1440180"/>
            <a:ext cx="3429091" cy="226314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3E7E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857273" y="1611630"/>
            <a:ext cx="30861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Splunk Visibility</a:t>
            </a:r>
            <a:endParaRPr sz="1100"/>
          </a:p>
        </p:txBody>
      </p:sp>
      <p:sp>
        <p:nvSpPr>
          <p:cNvPr id="181" name="Google Shape;181;p19"/>
          <p:cNvSpPr txBox="1"/>
          <p:nvPr/>
        </p:nvSpPr>
        <p:spPr>
          <a:xfrm>
            <a:off x="925855" y="216027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Confirmed unusual authentication</a:t>
            </a:r>
            <a:b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for the compromised account</a:t>
            </a:r>
            <a:endParaRPr sz="1100"/>
          </a:p>
        </p:txBody>
      </p:sp>
      <p:sp>
        <p:nvSpPr>
          <p:cNvPr id="182" name="Google Shape;182;p19"/>
          <p:cNvSpPr txBox="1"/>
          <p:nvPr/>
        </p:nvSpPr>
        <p:spPr>
          <a:xfrm>
            <a:off x="5177928" y="1611630"/>
            <a:ext cx="30861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Sentinel Visibility</a:t>
            </a:r>
            <a:endParaRPr sz="1100"/>
          </a:p>
        </p:txBody>
      </p:sp>
      <p:sp>
        <p:nvSpPr>
          <p:cNvPr id="183" name="Google Shape;183;p19"/>
          <p:cNvSpPr txBox="1"/>
          <p:nvPr/>
        </p:nvSpPr>
        <p:spPr>
          <a:xfrm>
            <a:off x="5246510" y="2160270"/>
            <a:ext cx="29490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Surfaced additional systems through</a:t>
            </a:r>
            <a:b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broader cloud-service data</a:t>
            </a:r>
            <a:endParaRPr sz="1100"/>
          </a:p>
        </p:txBody>
      </p:sp>
      <p:sp>
        <p:nvSpPr>
          <p:cNvPr id="184" name="Google Shape;184;p19"/>
          <p:cNvSpPr/>
          <p:nvPr/>
        </p:nvSpPr>
        <p:spPr>
          <a:xfrm>
            <a:off x="3600546" y="2057400"/>
            <a:ext cx="1954582" cy="994410"/>
          </a:xfrm>
          <a:prstGeom prst="roundRect">
            <a:avLst>
              <a:gd fmla="val 16667" name="adj"/>
            </a:avLst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3600546" y="2290572"/>
            <a:ext cx="1954582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Combined Scope</a:t>
            </a:r>
            <a:b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Incident Response</a:t>
            </a:r>
            <a:endParaRPr sz="1100"/>
          </a:p>
        </p:txBody>
      </p:sp>
      <p:sp>
        <p:nvSpPr>
          <p:cNvPr id="186" name="Google Shape;186;p19"/>
          <p:cNvSpPr txBox="1"/>
          <p:nvPr/>
        </p:nvSpPr>
        <p:spPr>
          <a:xfrm>
            <a:off x="377200" y="4375404"/>
            <a:ext cx="994437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 sz="1100"/>
          </a:p>
        </p:txBody>
      </p:sp>
      <p:sp>
        <p:nvSpPr>
          <p:cNvPr id="187" name="Google Shape;187;p19"/>
          <p:cNvSpPr txBox="1"/>
          <p:nvPr/>
        </p:nvSpPr>
        <p:spPr>
          <a:xfrm>
            <a:off x="1268764" y="4375404"/>
            <a:ext cx="7406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Using the right source for each question produced a fuller scope than either search alone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219462" y="171450"/>
            <a:ext cx="7955492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Lessons from the Case</a:t>
            </a:r>
            <a:endParaRPr sz="1100"/>
          </a:p>
        </p:txBody>
      </p:sp>
      <p:sp>
        <p:nvSpPr>
          <p:cNvPr id="193" name="Google Shape;193;p20"/>
          <p:cNvSpPr txBox="1"/>
          <p:nvPr/>
        </p:nvSpPr>
        <p:spPr>
          <a:xfrm>
            <a:off x="219462" y="534924"/>
            <a:ext cx="774974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A repeatable approach to cross-platform investigation</a:t>
            </a:r>
            <a:endParaRPr sz="1100"/>
          </a:p>
        </p:txBody>
      </p:sp>
      <p:sp>
        <p:nvSpPr>
          <p:cNvPr id="194" name="Google Shape;194;p20"/>
          <p:cNvSpPr txBox="1"/>
          <p:nvPr/>
        </p:nvSpPr>
        <p:spPr>
          <a:xfrm>
            <a:off x="8723609" y="171450"/>
            <a:ext cx="1714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195" name="Google Shape;195;p20"/>
          <p:cNvSpPr/>
          <p:nvPr/>
        </p:nvSpPr>
        <p:spPr>
          <a:xfrm>
            <a:off x="514364" y="1117854"/>
            <a:ext cx="445782" cy="445770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14364" y="1248156"/>
            <a:ext cx="4457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197" name="Google Shape;197;p20"/>
          <p:cNvSpPr txBox="1"/>
          <p:nvPr/>
        </p:nvSpPr>
        <p:spPr>
          <a:xfrm>
            <a:off x="1165891" y="1062990"/>
            <a:ext cx="21946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Start With Evidence</a:t>
            </a:r>
            <a:endParaRPr sz="1100"/>
          </a:p>
        </p:txBody>
      </p:sp>
      <p:sp>
        <p:nvSpPr>
          <p:cNvPr id="198" name="Google Shape;198;p20"/>
          <p:cNvSpPr txBox="1"/>
          <p:nvPr/>
        </p:nvSpPr>
        <p:spPr>
          <a:xfrm>
            <a:off x="1165891" y="1392174"/>
            <a:ext cx="7201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Use the platform and log source closest to the original alert to confirm whether the activity is meaningful</a:t>
            </a:r>
            <a:endParaRPr sz="1100"/>
          </a:p>
        </p:txBody>
      </p:sp>
      <p:sp>
        <p:nvSpPr>
          <p:cNvPr id="199" name="Google Shape;199;p20"/>
          <p:cNvSpPr/>
          <p:nvPr/>
        </p:nvSpPr>
        <p:spPr>
          <a:xfrm>
            <a:off x="514364" y="2146554"/>
            <a:ext cx="445782" cy="445770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14364" y="2276856"/>
            <a:ext cx="4457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201" name="Google Shape;201;p20"/>
          <p:cNvSpPr txBox="1"/>
          <p:nvPr/>
        </p:nvSpPr>
        <p:spPr>
          <a:xfrm>
            <a:off x="1165891" y="2091690"/>
            <a:ext cx="21946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Pivot With Context</a:t>
            </a:r>
            <a:endParaRPr sz="1100"/>
          </a:p>
        </p:txBody>
      </p:sp>
      <p:sp>
        <p:nvSpPr>
          <p:cNvPr id="202" name="Google Shape;202;p20"/>
          <p:cNvSpPr txBox="1"/>
          <p:nvPr/>
        </p:nvSpPr>
        <p:spPr>
          <a:xfrm>
            <a:off x="1165891" y="2420874"/>
            <a:ext cx="7201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Carry confirmed </a:t>
            </a:r>
            <a:r>
              <a:rPr lang="en" sz="1000">
                <a:solidFill>
                  <a:srgbClr val="191919"/>
                </a:solidFill>
              </a:rPr>
              <a:t>evidence </a:t>
            </a: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into the next query rather than starting over</a:t>
            </a:r>
            <a:endParaRPr sz="1100"/>
          </a:p>
        </p:txBody>
      </p:sp>
      <p:sp>
        <p:nvSpPr>
          <p:cNvPr id="203" name="Google Shape;203;p20"/>
          <p:cNvSpPr/>
          <p:nvPr/>
        </p:nvSpPr>
        <p:spPr>
          <a:xfrm>
            <a:off x="514364" y="3175254"/>
            <a:ext cx="445782" cy="445770"/>
          </a:xfrm>
          <a:prstGeom prst="ellipse">
            <a:avLst/>
          </a:prstGeom>
          <a:solidFill>
            <a:srgbClr val="102D54"/>
          </a:solidFill>
          <a:ln cap="flat" cmpd="sng" w="9525">
            <a:solidFill>
              <a:srgbClr val="102D5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14364" y="3305556"/>
            <a:ext cx="445782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205" name="Google Shape;205;p20"/>
          <p:cNvSpPr txBox="1"/>
          <p:nvPr/>
        </p:nvSpPr>
        <p:spPr>
          <a:xfrm>
            <a:off x="1165891" y="3120390"/>
            <a:ext cx="2194619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Combine Coverage</a:t>
            </a:r>
            <a:endParaRPr sz="1100"/>
          </a:p>
        </p:txBody>
      </p:sp>
      <p:sp>
        <p:nvSpPr>
          <p:cNvPr id="206" name="Google Shape;206;p20"/>
          <p:cNvSpPr txBox="1"/>
          <p:nvPr/>
        </p:nvSpPr>
        <p:spPr>
          <a:xfrm>
            <a:off x="1165891" y="3449573"/>
            <a:ext cx="7201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Use different platforms when their data coverage answers different parts of the same investigation</a:t>
            </a:r>
            <a:endParaRPr sz="1100"/>
          </a:p>
        </p:txBody>
      </p:sp>
      <p:sp>
        <p:nvSpPr>
          <p:cNvPr id="207" name="Google Shape;207;p20"/>
          <p:cNvSpPr/>
          <p:nvPr/>
        </p:nvSpPr>
        <p:spPr>
          <a:xfrm>
            <a:off x="685818" y="4217670"/>
            <a:ext cx="1371637" cy="37719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685818" y="4327398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 sz="1100"/>
          </a:p>
        </p:txBody>
      </p:sp>
      <p:sp>
        <p:nvSpPr>
          <p:cNvPr id="209" name="Google Shape;209;p20"/>
          <p:cNvSpPr/>
          <p:nvPr/>
        </p:nvSpPr>
        <p:spPr>
          <a:xfrm>
            <a:off x="2139753" y="4279392"/>
            <a:ext cx="411491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2743273" y="4217670"/>
            <a:ext cx="1371637" cy="37719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743273" y="4327398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Pivot</a:t>
            </a:r>
            <a:endParaRPr sz="1100"/>
          </a:p>
        </p:txBody>
      </p:sp>
      <p:sp>
        <p:nvSpPr>
          <p:cNvPr id="212" name="Google Shape;212;p20"/>
          <p:cNvSpPr/>
          <p:nvPr/>
        </p:nvSpPr>
        <p:spPr>
          <a:xfrm>
            <a:off x="4197208" y="4279392"/>
            <a:ext cx="411491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800728" y="4217670"/>
            <a:ext cx="1371637" cy="37719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800728" y="4327398"/>
            <a:ext cx="1371637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Expand</a:t>
            </a:r>
            <a:endParaRPr sz="1100"/>
          </a:p>
        </p:txBody>
      </p:sp>
      <p:sp>
        <p:nvSpPr>
          <p:cNvPr id="215" name="Google Shape;215;p20"/>
          <p:cNvSpPr/>
          <p:nvPr/>
        </p:nvSpPr>
        <p:spPr>
          <a:xfrm>
            <a:off x="6254663" y="4279392"/>
            <a:ext cx="411491" cy="1920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B5B91"/>
          </a:solidFill>
          <a:ln cap="flat" cmpd="sng" w="9525">
            <a:solidFill>
              <a:srgbClr val="2B5B9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858183" y="4217670"/>
            <a:ext cx="1371637" cy="377190"/>
          </a:xfrm>
          <a:prstGeom prst="roundRect">
            <a:avLst>
              <a:gd fmla="val 16667" name="adj"/>
            </a:avLst>
          </a:prstGeom>
          <a:solidFill>
            <a:srgbClr val="EFF6F4"/>
          </a:solidFill>
          <a:ln cap="flat" cmpd="sng" w="9525">
            <a:solidFill>
              <a:srgbClr val="DADFE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6858183" y="4327398"/>
            <a:ext cx="137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02D54"/>
                </a:solidFill>
              </a:rPr>
              <a:t>Full </a:t>
            </a:r>
            <a:r>
              <a:rPr b="1" i="0" lang="en" sz="9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