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1675"/>
  <p:notesSz cx="6858000" cy="9144000"/>
  <p:embeddedFontLst>
    <p:embeddedFont>
      <p:font typeface="Hepta Slab Medium"/>
      <p:regular r:id="rId11"/>
      <p:bold r:id="rId12"/>
    </p:embeddedFont>
    <p:embeddedFont>
      <p:font typeface="Inter"/>
      <p:regular r:id="rId13"/>
      <p:bold r:id="rId14"/>
      <p:italic r:id="rId15"/>
      <p:boldItalic r:id="rId16"/>
    </p:embeddedFont>
    <p:embeddedFont>
      <p:font typeface="Barl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R2vhg3WrCa5hVh5XPcr35E2Sn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boldItalic.fntdata"/><Relationship Id="rId11" Type="http://schemas.openxmlformats.org/officeDocument/2006/relationships/font" Target="fonts/HeptaSlabMedium-regular.fntdata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Inter-regular.fntdata"/><Relationship Id="rId12" Type="http://schemas.openxmlformats.org/officeDocument/2006/relationships/font" Target="fonts/HeptaSlab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Barlow-regular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Barlow-italic.fntdata"/><Relationship Id="rId6" Type="http://schemas.openxmlformats.org/officeDocument/2006/relationships/slide" Target="slides/slide1.xml"/><Relationship Id="rId18" Type="http://schemas.openxmlformats.org/officeDocument/2006/relationships/font" Target="fonts/Barl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1a5a8d1974401096_0_0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h1a5a8d19744010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16da3313eca395b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h16da3313eca395b0_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16da3313eca395b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h16da3313eca395b0_1_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16da3313eca395b0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h16da3313eca395b0_1_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6da3313eca395b0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h16da3313eca395b0_1_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1a5a8d1974401096_0_56"/>
          <p:cNvSpPr txBox="1"/>
          <p:nvPr>
            <p:ph idx="1" type="body"/>
          </p:nvPr>
        </p:nvSpPr>
        <p:spPr>
          <a:xfrm>
            <a:off x="759613" y="4580400"/>
            <a:ext cx="3845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–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–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»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3" name="Google Shape;13;h1a5a8d1974401096_0_56"/>
          <p:cNvSpPr txBox="1"/>
          <p:nvPr>
            <p:ph idx="2" type="subTitle"/>
          </p:nvPr>
        </p:nvSpPr>
        <p:spPr>
          <a:xfrm>
            <a:off x="622386" y="593467"/>
            <a:ext cx="32046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4" name="Google Shape;14;h1a5a8d1974401096_0_56"/>
          <p:cNvSpPr txBox="1"/>
          <p:nvPr>
            <p:ph idx="12" type="sldNum"/>
          </p:nvPr>
        </p:nvSpPr>
        <p:spPr>
          <a:xfrm>
            <a:off x="11320403" y="334438"/>
            <a:ext cx="46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4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1a5a8d1974401096_0_0"/>
          <p:cNvSpPr txBox="1"/>
          <p:nvPr>
            <p:ph idx="4294967295" type="title"/>
          </p:nvPr>
        </p:nvSpPr>
        <p:spPr>
          <a:xfrm>
            <a:off x="210960" y="-226867"/>
            <a:ext cx="9385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 sz="2000">
                <a:solidFill>
                  <a:srgbClr val="102D54"/>
                </a:solidFill>
                <a:latin typeface="Inter"/>
                <a:ea typeface="Inter"/>
                <a:cs typeface="Inter"/>
                <a:sym typeface="Inter"/>
              </a:rPr>
              <a:t>Jason Man</a:t>
            </a:r>
            <a:endParaRPr sz="2000">
              <a:solidFill>
                <a:srgbClr val="102D5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By: Jason Man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h1a5a8d1974401096_0_0"/>
          <p:cNvSpPr/>
          <p:nvPr/>
        </p:nvSpPr>
        <p:spPr>
          <a:xfrm>
            <a:off x="11897583" y="0"/>
            <a:ext cx="294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02D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h1a5a8d1974401096_0_0"/>
          <p:cNvSpPr txBox="1"/>
          <p:nvPr/>
        </p:nvSpPr>
        <p:spPr>
          <a:xfrm>
            <a:off x="2503275" y="1966525"/>
            <a:ext cx="7478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02D54"/>
                </a:solidFill>
                <a:latin typeface="Inter"/>
                <a:ea typeface="Inter"/>
                <a:cs typeface="Inter"/>
                <a:sym typeface="Inter"/>
              </a:rPr>
              <a:t>Building a Human Factor Audit Checklist</a:t>
            </a:r>
            <a:endParaRPr b="1" i="0" sz="2700" u="none" cap="none" strike="noStrike">
              <a:solidFill>
                <a:srgbClr val="102D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1" name="Google Shape;91;h1a5a8d197440109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650" y="2838850"/>
            <a:ext cx="52863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16da3313eca395b0_1_0"/>
          <p:cNvSpPr txBox="1"/>
          <p:nvPr/>
        </p:nvSpPr>
        <p:spPr>
          <a:xfrm>
            <a:off x="457200" y="310896"/>
            <a:ext cx="10972800" cy="52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Building a Human-Factor Audit Checklist</a:t>
            </a:r>
            <a:endParaRPr/>
          </a:p>
        </p:txBody>
      </p:sp>
      <p:sp>
        <p:nvSpPr>
          <p:cNvPr id="97" name="Google Shape;97;h16da3313eca395b0_1_0"/>
          <p:cNvSpPr txBox="1"/>
          <p:nvPr/>
        </p:nvSpPr>
        <p:spPr>
          <a:xfrm>
            <a:off x="457200" y="96012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26F7F"/>
                </a:solidFill>
                <a:latin typeface="Arial"/>
                <a:ea typeface="Arial"/>
                <a:cs typeface="Arial"/>
                <a:sym typeface="Arial"/>
              </a:rPr>
              <a:t>Verify the complete path: program design, actual execution, and documented outcomes.</a:t>
            </a:r>
            <a:endParaRPr/>
          </a:p>
        </p:txBody>
      </p:sp>
      <p:sp>
        <p:nvSpPr>
          <p:cNvPr id="98" name="Google Shape;98;h16da3313eca395b0_1_0"/>
          <p:cNvSpPr txBox="1"/>
          <p:nvPr/>
        </p:nvSpPr>
        <p:spPr>
          <a:xfrm>
            <a:off x="11475720" y="365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C757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9" name="Google Shape;99;h16da3313eca395b0_1_0"/>
          <p:cNvSpPr/>
          <p:nvPr/>
        </p:nvSpPr>
        <p:spPr>
          <a:xfrm>
            <a:off x="640080" y="1993392"/>
            <a:ext cx="3474720" cy="3063240"/>
          </a:xfrm>
          <a:prstGeom prst="roundRect">
            <a:avLst>
              <a:gd fmla="val 16667" name="adj"/>
            </a:avLst>
          </a:prstGeom>
          <a:solidFill>
            <a:srgbClr val="E8F2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h16da3313eca395b0_1_0"/>
          <p:cNvSpPr txBox="1"/>
          <p:nvPr/>
        </p:nvSpPr>
        <p:spPr>
          <a:xfrm>
            <a:off x="868680" y="23317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PROGRAM STRUCTURE</a:t>
            </a:r>
            <a:endParaRPr/>
          </a:p>
        </p:txBody>
      </p:sp>
      <p:sp>
        <p:nvSpPr>
          <p:cNvPr id="101" name="Google Shape;101;h16da3313eca395b0_1_0"/>
          <p:cNvSpPr txBox="1"/>
          <p:nvPr/>
        </p:nvSpPr>
        <p:spPr>
          <a:xfrm>
            <a:off x="960119" y="3072384"/>
            <a:ext cx="2834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Clear goals, defined audiences, and content grounded in realistic tactics.</a:t>
            </a:r>
            <a:endParaRPr/>
          </a:p>
        </p:txBody>
      </p:sp>
      <p:sp>
        <p:nvSpPr>
          <p:cNvPr id="102" name="Google Shape;102;h16da3313eca395b0_1_0"/>
          <p:cNvSpPr/>
          <p:nvPr/>
        </p:nvSpPr>
        <p:spPr>
          <a:xfrm>
            <a:off x="4361688" y="1993392"/>
            <a:ext cx="3474720" cy="3063240"/>
          </a:xfrm>
          <a:prstGeom prst="roundRect">
            <a:avLst>
              <a:gd fmla="val 16667" name="adj"/>
            </a:avLst>
          </a:prstGeom>
          <a:solidFill>
            <a:srgbClr val="E6F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h16da3313eca395b0_1_0"/>
          <p:cNvSpPr txBox="1"/>
          <p:nvPr/>
        </p:nvSpPr>
        <p:spPr>
          <a:xfrm>
            <a:off x="4590288" y="23317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/>
          </a:p>
        </p:txBody>
      </p:sp>
      <p:sp>
        <p:nvSpPr>
          <p:cNvPr id="104" name="Google Shape;104;h16da3313eca395b0_1_0"/>
          <p:cNvSpPr txBox="1"/>
          <p:nvPr/>
        </p:nvSpPr>
        <p:spPr>
          <a:xfrm>
            <a:off x="4681727" y="3072384"/>
            <a:ext cx="2834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Evidence that simulations and tabletop exercises run on the stated cadence.</a:t>
            </a:r>
            <a:endParaRPr/>
          </a:p>
        </p:txBody>
      </p:sp>
      <p:sp>
        <p:nvSpPr>
          <p:cNvPr id="105" name="Google Shape;105;h16da3313eca395b0_1_0"/>
          <p:cNvSpPr/>
          <p:nvPr/>
        </p:nvSpPr>
        <p:spPr>
          <a:xfrm>
            <a:off x="8083296" y="1993392"/>
            <a:ext cx="3474720" cy="3063240"/>
          </a:xfrm>
          <a:prstGeom prst="roundRect">
            <a:avLst>
              <a:gd fmla="val 16667" name="adj"/>
            </a:avLst>
          </a:prstGeom>
          <a:solidFill>
            <a:srgbClr val="FBEE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h16da3313eca395b0_1_0"/>
          <p:cNvSpPr txBox="1"/>
          <p:nvPr/>
        </p:nvSpPr>
        <p:spPr>
          <a:xfrm>
            <a:off x="8311896" y="23317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OUTCOMES</a:t>
            </a:r>
            <a:endParaRPr/>
          </a:p>
        </p:txBody>
      </p:sp>
      <p:sp>
        <p:nvSpPr>
          <p:cNvPr id="107" name="Google Shape;107;h16da3313eca395b0_1_0"/>
          <p:cNvSpPr txBox="1"/>
          <p:nvPr/>
        </p:nvSpPr>
        <p:spPr>
          <a:xfrm>
            <a:off x="8403336" y="3072384"/>
            <a:ext cx="2834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Tracked metrics that lead to documented improvements.</a:t>
            </a:r>
            <a:endParaRPr/>
          </a:p>
        </p:txBody>
      </p:sp>
      <p:sp>
        <p:nvSpPr>
          <p:cNvPr id="108" name="Google Shape;108;h16da3313eca395b0_1_0"/>
          <p:cNvSpPr/>
          <p:nvPr/>
        </p:nvSpPr>
        <p:spPr>
          <a:xfrm>
            <a:off x="594360" y="5806440"/>
            <a:ext cx="10972800" cy="530352"/>
          </a:xfrm>
          <a:prstGeom prst="roundRect">
            <a:avLst>
              <a:gd fmla="val 16667" name="adj"/>
            </a:avLst>
          </a:prstGeom>
          <a:solidFill>
            <a:srgbClr val="E8F2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h16da3313eca395b0_1_0"/>
          <p:cNvSpPr txBox="1"/>
          <p:nvPr/>
        </p:nvSpPr>
        <p:spPr>
          <a:xfrm>
            <a:off x="822960" y="594360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A checklist tests whether the program is designed well, actually operating, and learning from results.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16da3313eca395b0_1_19"/>
          <p:cNvSpPr txBox="1"/>
          <p:nvPr/>
        </p:nvSpPr>
        <p:spPr>
          <a:xfrm>
            <a:off x="457200" y="310896"/>
            <a:ext cx="10972800" cy="52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Audit the Program Structure</a:t>
            </a:r>
            <a:endParaRPr/>
          </a:p>
        </p:txBody>
      </p:sp>
      <p:sp>
        <p:nvSpPr>
          <p:cNvPr id="115" name="Google Shape;115;h16da3313eca395b0_1_19"/>
          <p:cNvSpPr txBox="1"/>
          <p:nvPr/>
        </p:nvSpPr>
        <p:spPr>
          <a:xfrm>
            <a:off x="457200" y="96012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26F7F"/>
                </a:solidFill>
                <a:latin typeface="Arial"/>
                <a:ea typeface="Arial"/>
                <a:cs typeface="Arial"/>
                <a:sym typeface="Arial"/>
              </a:rPr>
              <a:t>Confirm the awareness program has a sound foundation before evaluating its delivery.</a:t>
            </a:r>
            <a:endParaRPr/>
          </a:p>
        </p:txBody>
      </p:sp>
      <p:sp>
        <p:nvSpPr>
          <p:cNvPr id="116" name="Google Shape;116;h16da3313eca395b0_1_19"/>
          <p:cNvSpPr txBox="1"/>
          <p:nvPr/>
        </p:nvSpPr>
        <p:spPr>
          <a:xfrm>
            <a:off x="11475720" y="365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C757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7" name="Google Shape;117;h16da3313eca395b0_1_19"/>
          <p:cNvSpPr/>
          <p:nvPr/>
        </p:nvSpPr>
        <p:spPr>
          <a:xfrm>
            <a:off x="777240" y="1828800"/>
            <a:ext cx="10607040" cy="841248"/>
          </a:xfrm>
          <a:prstGeom prst="roundRect">
            <a:avLst>
              <a:gd fmla="val 16667" name="adj"/>
            </a:avLst>
          </a:prstGeom>
          <a:solidFill>
            <a:srgbClr val="E8F2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h16da3313eca395b0_1_19"/>
          <p:cNvSpPr txBox="1"/>
          <p:nvPr/>
        </p:nvSpPr>
        <p:spPr>
          <a:xfrm>
            <a:off x="1005840" y="2029968"/>
            <a:ext cx="594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C757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9" name="Google Shape;119;h16da3313eca395b0_1_19"/>
          <p:cNvSpPr txBox="1"/>
          <p:nvPr/>
        </p:nvSpPr>
        <p:spPr>
          <a:xfrm>
            <a:off x="1828800" y="1956816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Specific goal</a:t>
            </a:r>
            <a:endParaRPr/>
          </a:p>
        </p:txBody>
      </p:sp>
      <p:sp>
        <p:nvSpPr>
          <p:cNvPr id="120" name="Google Shape;120;h16da3313eca395b0_1_19"/>
          <p:cNvSpPr txBox="1"/>
          <p:nvPr/>
        </p:nvSpPr>
        <p:spPr>
          <a:xfrm>
            <a:off x="5074920" y="1984248"/>
            <a:ext cx="5897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Can the team state exactly what the program is meant to improve?</a:t>
            </a:r>
            <a:endParaRPr/>
          </a:p>
        </p:txBody>
      </p:sp>
      <p:sp>
        <p:nvSpPr>
          <p:cNvPr id="121" name="Google Shape;121;h16da3313eca395b0_1_19"/>
          <p:cNvSpPr/>
          <p:nvPr/>
        </p:nvSpPr>
        <p:spPr>
          <a:xfrm>
            <a:off x="777240" y="2907792"/>
            <a:ext cx="10607040" cy="841248"/>
          </a:xfrm>
          <a:prstGeom prst="roundRect">
            <a:avLst>
              <a:gd fmla="val 16667" name="adj"/>
            </a:avLst>
          </a:prstGeom>
          <a:solidFill>
            <a:srgbClr val="E6F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h16da3313eca395b0_1_19"/>
          <p:cNvSpPr txBox="1"/>
          <p:nvPr/>
        </p:nvSpPr>
        <p:spPr>
          <a:xfrm>
            <a:off x="1005840" y="3108960"/>
            <a:ext cx="594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C757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23" name="Google Shape;123;h16da3313eca395b0_1_19"/>
          <p:cNvSpPr txBox="1"/>
          <p:nvPr/>
        </p:nvSpPr>
        <p:spPr>
          <a:xfrm>
            <a:off x="1828800" y="303580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Defined audience segments</a:t>
            </a:r>
            <a:endParaRPr/>
          </a:p>
        </p:txBody>
      </p:sp>
      <p:sp>
        <p:nvSpPr>
          <p:cNvPr id="124" name="Google Shape;124;h16da3313eca395b0_1_19"/>
          <p:cNvSpPr txBox="1"/>
          <p:nvPr/>
        </p:nvSpPr>
        <p:spPr>
          <a:xfrm>
            <a:off x="5074920" y="3063240"/>
            <a:ext cx="5897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Is the target audience identified rather than treated as one generic group?</a:t>
            </a:r>
            <a:endParaRPr/>
          </a:p>
        </p:txBody>
      </p:sp>
      <p:sp>
        <p:nvSpPr>
          <p:cNvPr id="125" name="Google Shape;125;h16da3313eca395b0_1_19"/>
          <p:cNvSpPr/>
          <p:nvPr/>
        </p:nvSpPr>
        <p:spPr>
          <a:xfrm>
            <a:off x="777240" y="3986784"/>
            <a:ext cx="10607040" cy="841248"/>
          </a:xfrm>
          <a:prstGeom prst="roundRect">
            <a:avLst>
              <a:gd fmla="val 16667" name="adj"/>
            </a:avLst>
          </a:prstGeom>
          <a:solidFill>
            <a:srgbClr val="FBEE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h16da3313eca395b0_1_19"/>
          <p:cNvSpPr txBox="1"/>
          <p:nvPr/>
        </p:nvSpPr>
        <p:spPr>
          <a:xfrm>
            <a:off x="1005840" y="4187952"/>
            <a:ext cx="594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C757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7" name="Google Shape;127;h16da3313eca395b0_1_19"/>
          <p:cNvSpPr txBox="1"/>
          <p:nvPr/>
        </p:nvSpPr>
        <p:spPr>
          <a:xfrm>
            <a:off x="1828800" y="41148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Content grounded in real tactics</a:t>
            </a:r>
            <a:endParaRPr/>
          </a:p>
        </p:txBody>
      </p:sp>
      <p:sp>
        <p:nvSpPr>
          <p:cNvPr id="128" name="Google Shape;128;h16da3313eca395b0_1_19"/>
          <p:cNvSpPr txBox="1"/>
          <p:nvPr/>
        </p:nvSpPr>
        <p:spPr>
          <a:xfrm>
            <a:off x="5074920" y="4142232"/>
            <a:ext cx="5897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Do training topics reflect realistic social-engineering risks?</a:t>
            </a:r>
            <a:endParaRPr/>
          </a:p>
        </p:txBody>
      </p:sp>
      <p:sp>
        <p:nvSpPr>
          <p:cNvPr id="129" name="Google Shape;129;h16da3313eca395b0_1_19"/>
          <p:cNvSpPr/>
          <p:nvPr/>
        </p:nvSpPr>
        <p:spPr>
          <a:xfrm>
            <a:off x="594360" y="5806440"/>
            <a:ext cx="10972800" cy="530352"/>
          </a:xfrm>
          <a:prstGeom prst="roundRect">
            <a:avLst>
              <a:gd fmla="val 16667" name="adj"/>
            </a:avLst>
          </a:prstGeom>
          <a:solidFill>
            <a:srgbClr val="E8F2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h16da3313eca395b0_1_19"/>
          <p:cNvSpPr txBox="1"/>
          <p:nvPr/>
        </p:nvSpPr>
        <p:spPr>
          <a:xfrm>
            <a:off x="822960" y="594360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Structure checks verify the program was built on an intentional, risk-relevant foundation.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6da3313eca395b0_1_39"/>
          <p:cNvSpPr txBox="1"/>
          <p:nvPr/>
        </p:nvSpPr>
        <p:spPr>
          <a:xfrm>
            <a:off x="457200" y="310896"/>
            <a:ext cx="10972800" cy="52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Audit the Execution</a:t>
            </a:r>
            <a:endParaRPr/>
          </a:p>
        </p:txBody>
      </p:sp>
      <p:sp>
        <p:nvSpPr>
          <p:cNvPr id="136" name="Google Shape;136;h16da3313eca395b0_1_39"/>
          <p:cNvSpPr txBox="1"/>
          <p:nvPr/>
        </p:nvSpPr>
        <p:spPr>
          <a:xfrm>
            <a:off x="457200" y="96012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26F7F"/>
                </a:solidFill>
                <a:latin typeface="Arial"/>
                <a:ea typeface="Arial"/>
                <a:cs typeface="Arial"/>
                <a:sym typeface="Arial"/>
              </a:rPr>
              <a:t>Check whether planned awareness activities are happening on the stated cadence.</a:t>
            </a:r>
            <a:endParaRPr/>
          </a:p>
        </p:txBody>
      </p:sp>
      <p:sp>
        <p:nvSpPr>
          <p:cNvPr id="137" name="Google Shape;137;h16da3313eca395b0_1_39"/>
          <p:cNvSpPr txBox="1"/>
          <p:nvPr/>
        </p:nvSpPr>
        <p:spPr>
          <a:xfrm>
            <a:off x="11475720" y="365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C757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8" name="Google Shape;138;h16da3313eca395b0_1_39"/>
          <p:cNvSpPr/>
          <p:nvPr/>
        </p:nvSpPr>
        <p:spPr>
          <a:xfrm>
            <a:off x="777240" y="1901952"/>
            <a:ext cx="5029200" cy="3246120"/>
          </a:xfrm>
          <a:prstGeom prst="roundRect">
            <a:avLst>
              <a:gd fmla="val 16667" name="adj"/>
            </a:avLst>
          </a:prstGeom>
          <a:solidFill>
            <a:srgbClr val="FBEE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h16da3313eca395b0_1_39"/>
          <p:cNvSpPr txBox="1"/>
          <p:nvPr/>
        </p:nvSpPr>
        <p:spPr>
          <a:xfrm>
            <a:off x="1115568" y="230428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CE4739"/>
                </a:solidFill>
                <a:latin typeface="Arial"/>
                <a:ea typeface="Arial"/>
                <a:cs typeface="Arial"/>
                <a:sym typeface="Arial"/>
              </a:rPr>
              <a:t>PLAN ON PAPER</a:t>
            </a:r>
            <a:endParaRPr/>
          </a:p>
        </p:txBody>
      </p:sp>
      <p:sp>
        <p:nvSpPr>
          <p:cNvPr id="140" name="Google Shape;140;h16da3313eca395b0_1_39"/>
          <p:cNvSpPr txBox="1"/>
          <p:nvPr/>
        </p:nvSpPr>
        <p:spPr>
          <a:xfrm>
            <a:off x="1207008" y="3035808"/>
            <a:ext cx="4160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Simulations and tabletop exercises are scheduled.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A plan alone does not demonstrate that they happened.</a:t>
            </a:r>
            <a:endParaRPr/>
          </a:p>
        </p:txBody>
      </p:sp>
      <p:sp>
        <p:nvSpPr>
          <p:cNvPr id="141" name="Google Shape;141;h16da3313eca395b0_1_39"/>
          <p:cNvSpPr/>
          <p:nvPr/>
        </p:nvSpPr>
        <p:spPr>
          <a:xfrm>
            <a:off x="6355080" y="1901952"/>
            <a:ext cx="5029200" cy="3246120"/>
          </a:xfrm>
          <a:prstGeom prst="roundRect">
            <a:avLst>
              <a:gd fmla="val 16667" name="adj"/>
            </a:avLst>
          </a:prstGeom>
          <a:solidFill>
            <a:srgbClr val="E6F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16da3313eca395b0_1_39"/>
          <p:cNvSpPr txBox="1"/>
          <p:nvPr/>
        </p:nvSpPr>
        <p:spPr>
          <a:xfrm>
            <a:off x="6720840" y="230428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C7579"/>
                </a:solidFill>
                <a:latin typeface="Arial"/>
                <a:ea typeface="Arial"/>
                <a:cs typeface="Arial"/>
                <a:sym typeface="Arial"/>
              </a:rPr>
              <a:t>EVIDENCE OF DELIVERY</a:t>
            </a:r>
            <a:endParaRPr/>
          </a:p>
        </p:txBody>
      </p:sp>
      <p:sp>
        <p:nvSpPr>
          <p:cNvPr id="143" name="Google Shape;143;h16da3313eca395b0_1_39"/>
          <p:cNvSpPr txBox="1"/>
          <p:nvPr/>
        </p:nvSpPr>
        <p:spPr>
          <a:xfrm>
            <a:off x="6766560" y="3035808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Verify activities actually ran at the stated frequency.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Check dated records or other documented completion evidence.</a:t>
            </a:r>
            <a:endParaRPr/>
          </a:p>
        </p:txBody>
      </p:sp>
      <p:sp>
        <p:nvSpPr>
          <p:cNvPr id="144" name="Google Shape;144;h16da3313eca395b0_1_39"/>
          <p:cNvSpPr/>
          <p:nvPr/>
        </p:nvSpPr>
        <p:spPr>
          <a:xfrm>
            <a:off x="594360" y="5806440"/>
            <a:ext cx="10972800" cy="530352"/>
          </a:xfrm>
          <a:prstGeom prst="roundRect">
            <a:avLst>
              <a:gd fmla="val 16667" name="adj"/>
            </a:avLst>
          </a:prstGeom>
          <a:solidFill>
            <a:srgbClr val="E8F2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h16da3313eca395b0_1_39"/>
          <p:cNvSpPr txBox="1"/>
          <p:nvPr/>
        </p:nvSpPr>
        <p:spPr>
          <a:xfrm>
            <a:off x="822960" y="594360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The audit distinguishes a program that exists in a document from one genuinely operating.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16da3313eca395b0_1_53"/>
          <p:cNvSpPr txBox="1"/>
          <p:nvPr/>
        </p:nvSpPr>
        <p:spPr>
          <a:xfrm>
            <a:off x="457200" y="310896"/>
            <a:ext cx="10972800" cy="52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Audit Outcomes and Improvement</a:t>
            </a:r>
            <a:endParaRPr/>
          </a:p>
        </p:txBody>
      </p:sp>
      <p:sp>
        <p:nvSpPr>
          <p:cNvPr id="151" name="Google Shape;151;h16da3313eca395b0_1_53"/>
          <p:cNvSpPr txBox="1"/>
          <p:nvPr/>
        </p:nvSpPr>
        <p:spPr>
          <a:xfrm>
            <a:off x="457200" y="960120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26F7F"/>
                </a:solidFill>
                <a:latin typeface="Arial"/>
                <a:ea typeface="Arial"/>
                <a:cs typeface="Arial"/>
                <a:sym typeface="Arial"/>
              </a:rPr>
              <a:t>Tracking results is necessary</a:t>
            </a:r>
            <a:r>
              <a:rPr lang="en-US">
                <a:solidFill>
                  <a:srgbClr val="626F7F"/>
                </a:solidFill>
              </a:rPr>
              <a:t>; </a:t>
            </a:r>
            <a:r>
              <a:rPr b="0" i="0" lang="en-US" sz="1400" u="none" cap="none" strike="noStrike">
                <a:solidFill>
                  <a:srgbClr val="626F7F"/>
                </a:solidFill>
                <a:latin typeface="Arial"/>
                <a:ea typeface="Arial"/>
                <a:cs typeface="Arial"/>
                <a:sym typeface="Arial"/>
              </a:rPr>
              <a:t>but the feedback into program changes is </a:t>
            </a:r>
            <a:r>
              <a:rPr lang="en-US">
                <a:solidFill>
                  <a:srgbClr val="626F7F"/>
                </a:solidFill>
              </a:rPr>
              <a:t>the key change</a:t>
            </a:r>
            <a:endParaRPr/>
          </a:p>
        </p:txBody>
      </p:sp>
      <p:sp>
        <p:nvSpPr>
          <p:cNvPr id="152" name="Google Shape;152;h16da3313eca395b0_1_53"/>
          <p:cNvSpPr txBox="1"/>
          <p:nvPr/>
        </p:nvSpPr>
        <p:spPr>
          <a:xfrm>
            <a:off x="11475720" y="365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C757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53" name="Google Shape;153;h16da3313eca395b0_1_53"/>
          <p:cNvSpPr/>
          <p:nvPr/>
        </p:nvSpPr>
        <p:spPr>
          <a:xfrm>
            <a:off x="640080" y="1975104"/>
            <a:ext cx="3474720" cy="2926080"/>
          </a:xfrm>
          <a:prstGeom prst="roundRect">
            <a:avLst>
              <a:gd fmla="val 16667" name="adj"/>
            </a:avLst>
          </a:prstGeom>
          <a:solidFill>
            <a:srgbClr val="E8F2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h16da3313eca395b0_1_53"/>
          <p:cNvSpPr txBox="1"/>
          <p:nvPr/>
        </p:nvSpPr>
        <p:spPr>
          <a:xfrm>
            <a:off x="868680" y="23317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endParaRPr/>
          </a:p>
        </p:txBody>
      </p:sp>
      <p:sp>
        <p:nvSpPr>
          <p:cNvPr id="155" name="Google Shape;155;h16da3313eca395b0_1_53"/>
          <p:cNvSpPr txBox="1"/>
          <p:nvPr/>
        </p:nvSpPr>
        <p:spPr>
          <a:xfrm>
            <a:off x="969264" y="3127248"/>
            <a:ext cx="2788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Confirm metrics are actually being tracked.</a:t>
            </a:r>
            <a:endParaRPr/>
          </a:p>
        </p:txBody>
      </p:sp>
      <p:sp>
        <p:nvSpPr>
          <p:cNvPr id="156" name="Google Shape;156;h16da3313eca395b0_1_53"/>
          <p:cNvSpPr/>
          <p:nvPr/>
        </p:nvSpPr>
        <p:spPr>
          <a:xfrm>
            <a:off x="4352544" y="1975104"/>
            <a:ext cx="3474720" cy="2926080"/>
          </a:xfrm>
          <a:prstGeom prst="roundRect">
            <a:avLst>
              <a:gd fmla="val 16667" name="adj"/>
            </a:avLst>
          </a:prstGeom>
          <a:solidFill>
            <a:srgbClr val="FBEE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h16da3313eca395b0_1_53"/>
          <p:cNvSpPr txBox="1"/>
          <p:nvPr/>
        </p:nvSpPr>
        <p:spPr>
          <a:xfrm>
            <a:off x="4581144" y="23317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158" name="Google Shape;158;h16da3313eca395b0_1_53"/>
          <p:cNvSpPr txBox="1"/>
          <p:nvPr/>
        </p:nvSpPr>
        <p:spPr>
          <a:xfrm>
            <a:off x="4681728" y="3127248"/>
            <a:ext cx="2788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Determine what results reveal about program effectiveness.</a:t>
            </a:r>
            <a:endParaRPr/>
          </a:p>
        </p:txBody>
      </p:sp>
      <p:sp>
        <p:nvSpPr>
          <p:cNvPr id="159" name="Google Shape;159;h16da3313eca395b0_1_53"/>
          <p:cNvSpPr/>
          <p:nvPr/>
        </p:nvSpPr>
        <p:spPr>
          <a:xfrm>
            <a:off x="8065008" y="1975104"/>
            <a:ext cx="3474720" cy="2926080"/>
          </a:xfrm>
          <a:prstGeom prst="roundRect">
            <a:avLst>
              <a:gd fmla="val 16667" name="adj"/>
            </a:avLst>
          </a:prstGeom>
          <a:solidFill>
            <a:srgbClr val="E6F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h16da3313eca395b0_1_53"/>
          <p:cNvSpPr txBox="1"/>
          <p:nvPr/>
        </p:nvSpPr>
        <p:spPr>
          <a:xfrm>
            <a:off x="8293608" y="23317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IMPROVE</a:t>
            </a:r>
            <a:endParaRPr/>
          </a:p>
        </p:txBody>
      </p:sp>
      <p:sp>
        <p:nvSpPr>
          <p:cNvPr id="161" name="Google Shape;161;h16da3313eca395b0_1_53"/>
          <p:cNvSpPr txBox="1"/>
          <p:nvPr/>
        </p:nvSpPr>
        <p:spPr>
          <a:xfrm>
            <a:off x="8394192" y="3127248"/>
            <a:ext cx="2788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Verify findings are used to update the program.</a:t>
            </a:r>
            <a:endParaRPr/>
          </a:p>
        </p:txBody>
      </p:sp>
      <p:sp>
        <p:nvSpPr>
          <p:cNvPr id="162" name="Google Shape;162;h16da3313eca395b0_1_53"/>
          <p:cNvSpPr txBox="1"/>
          <p:nvPr/>
        </p:nvSpPr>
        <p:spPr>
          <a:xfrm>
            <a:off x="1051560" y="5166360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7579"/>
                </a:solidFill>
                <a:latin typeface="Arial"/>
                <a:ea typeface="Arial"/>
                <a:cs typeface="Arial"/>
                <a:sym typeface="Arial"/>
              </a:rPr>
              <a:t>Audit evidence should show both the results and how they influenced later program decisions.</a:t>
            </a:r>
            <a:endParaRPr/>
          </a:p>
        </p:txBody>
      </p:sp>
      <p:sp>
        <p:nvSpPr>
          <p:cNvPr id="163" name="Google Shape;163;h16da3313eca395b0_1_53"/>
          <p:cNvSpPr/>
          <p:nvPr/>
        </p:nvSpPr>
        <p:spPr>
          <a:xfrm>
            <a:off x="594360" y="5806440"/>
            <a:ext cx="10972800" cy="530352"/>
          </a:xfrm>
          <a:prstGeom prst="roundRect">
            <a:avLst>
              <a:gd fmla="val 16667" name="adj"/>
            </a:avLst>
          </a:prstGeom>
          <a:solidFill>
            <a:srgbClr val="E8F2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h16da3313eca395b0_1_53"/>
          <p:cNvSpPr txBox="1"/>
          <p:nvPr/>
        </p:nvSpPr>
        <p:spPr>
          <a:xfrm>
            <a:off x="822960" y="5943600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A program without a documented feedback loop fails this outcome check</a:t>
            </a:r>
            <a:r>
              <a:rPr b="1" lang="en-US" sz="1200">
                <a:solidFill>
                  <a:srgbClr val="153052"/>
                </a:solidFill>
              </a:rPr>
              <a:t>; </a:t>
            </a:r>
            <a:r>
              <a:rPr b="1" i="0" lang="en-US" sz="1200" u="none" cap="none" strike="noStrike">
                <a:solidFill>
                  <a:srgbClr val="153052"/>
                </a:solidFill>
                <a:latin typeface="Arial"/>
                <a:ea typeface="Arial"/>
                <a:cs typeface="Arial"/>
                <a:sym typeface="Arial"/>
              </a:rPr>
              <a:t>even if it began well.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