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6858000" cx="12191675"/>
  <p:notesSz cx="6858000" cy="9144000"/>
  <p:embeddedFontLst>
    <p:embeddedFont>
      <p:font typeface="Hepta Slab Medium"/>
      <p:regular r:id="rId11"/>
      <p:bold r:id="rId12"/>
    </p:embeddedFont>
    <p:embeddedFont>
      <p:font typeface="Inter"/>
      <p:regular r:id="rId13"/>
      <p:bold r:id="rId14"/>
      <p:italic r:id="rId15"/>
      <p:boldItalic r:id="rId16"/>
    </p:embeddedFont>
    <p:embeddedFont>
      <p:font typeface="Barlow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grj7L6YRM2CKQXA37PvmroKWNrD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Barlow-boldItalic.fntdata"/><Relationship Id="rId11" Type="http://schemas.openxmlformats.org/officeDocument/2006/relationships/font" Target="fonts/HeptaSlabMedium-regular.fntdata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font" Target="fonts/Inter-regular.fntdata"/><Relationship Id="rId12" Type="http://schemas.openxmlformats.org/officeDocument/2006/relationships/font" Target="fonts/HeptaSlabMedium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Inter-italic.fntdata"/><Relationship Id="rId14" Type="http://schemas.openxmlformats.org/officeDocument/2006/relationships/font" Target="fonts/Inter-bold.fntdata"/><Relationship Id="rId17" Type="http://schemas.openxmlformats.org/officeDocument/2006/relationships/font" Target="fonts/Barlow-regular.fntdata"/><Relationship Id="rId16" Type="http://schemas.openxmlformats.org/officeDocument/2006/relationships/font" Target="fonts/Inter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Barlow-italic.fntdata"/><Relationship Id="rId6" Type="http://schemas.openxmlformats.org/officeDocument/2006/relationships/slide" Target="slides/slide1.xml"/><Relationship Id="rId18" Type="http://schemas.openxmlformats.org/officeDocument/2006/relationships/font" Target="fonts/Barlow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pc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h1a5a8d1974401096_0_0:notes"/>
          <p:cNvSpPr/>
          <p:nvPr>
            <p:ph idx="2" type="sldImg"/>
          </p:nvPr>
        </p:nvSpPr>
        <p:spPr>
          <a:xfrm>
            <a:off x="381381" y="685800"/>
            <a:ext cx="6095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h1a5a8d19744010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h35fb697db9a1e64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h35fb697db9a1e64b_1_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h35fb697db9a1e64b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h35fb697db9a1e64b_1_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35fb697db9a1e64b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h35fb697db9a1e64b_1_4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h35fb697db9a1e64b_1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h35fb697db9a1e64b_1_7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h1a5a8d1974401096_0_56"/>
          <p:cNvSpPr txBox="1"/>
          <p:nvPr>
            <p:ph idx="1" type="body"/>
          </p:nvPr>
        </p:nvSpPr>
        <p:spPr>
          <a:xfrm>
            <a:off x="759613" y="4580400"/>
            <a:ext cx="3845400" cy="1580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32385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•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2385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–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2385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•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2385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–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32385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»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32385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•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32385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•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32385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•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32385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"/>
              <a:buChar char="•"/>
              <a:defRPr sz="15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3" name="Google Shape;13;h1a5a8d1974401096_0_56"/>
          <p:cNvSpPr txBox="1"/>
          <p:nvPr>
            <p:ph idx="2" type="subTitle"/>
          </p:nvPr>
        </p:nvSpPr>
        <p:spPr>
          <a:xfrm>
            <a:off x="622386" y="593467"/>
            <a:ext cx="3204600" cy="71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4" name="Google Shape;14;h1a5a8d1974401096_0_56"/>
          <p:cNvSpPr txBox="1"/>
          <p:nvPr>
            <p:ph idx="12" type="sldNum"/>
          </p:nvPr>
        </p:nvSpPr>
        <p:spPr>
          <a:xfrm>
            <a:off x="11320403" y="334438"/>
            <a:ext cx="4653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pc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pc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pc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pc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pc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pc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pc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pc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b="0" i="0" spc="0" sz="1500" u="none" cap="none" strike="noStrike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41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pc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pc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pc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pc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pc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pc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pc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1a5a8d1974401096_0_0"/>
          <p:cNvSpPr txBox="1"/>
          <p:nvPr>
            <p:ph idx="4294967295" type="title"/>
          </p:nvPr>
        </p:nvSpPr>
        <p:spPr>
          <a:xfrm>
            <a:off x="210960" y="-226867"/>
            <a:ext cx="93852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r>
              <a:rPr lang="en-US" sz="2000">
                <a:solidFill>
                  <a:srgbClr val="102D54"/>
                </a:solidFill>
                <a:latin typeface="Inter"/>
                <a:ea typeface="Inter"/>
                <a:cs typeface="Inter"/>
                <a:sym typeface="Inter"/>
              </a:rPr>
              <a:t>Jason Man</a:t>
            </a:r>
            <a:endParaRPr sz="2000">
              <a:solidFill>
                <a:srgbClr val="102D54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0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By: Jason Man</a:t>
            </a:r>
            <a:endParaRPr sz="20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89" name="Google Shape;89;h1a5a8d1974401096_0_0"/>
          <p:cNvSpPr/>
          <p:nvPr/>
        </p:nvSpPr>
        <p:spPr>
          <a:xfrm>
            <a:off x="11897583" y="0"/>
            <a:ext cx="29400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60925" lIns="121900" spcFirstLastPara="1" rIns="121900" wrap="square" tIns="609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pc="0" sz="2400" u="none" cap="none" strike="noStrike">
              <a:solidFill>
                <a:srgbClr val="102D5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h1a5a8d1974401096_0_0"/>
          <p:cNvSpPr txBox="1"/>
          <p:nvPr/>
        </p:nvSpPr>
        <p:spPr>
          <a:xfrm>
            <a:off x="2895579" y="1806708"/>
            <a:ext cx="64005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1" lang="en-US" sz="2700">
                <a:solidFill>
                  <a:srgbClr val="102D54"/>
                </a:solidFill>
                <a:latin typeface="Inter"/>
                <a:ea typeface="Inter"/>
                <a:cs typeface="Inter"/>
                <a:sym typeface="Inter"/>
              </a:rPr>
              <a:t>Measuring Mitigation Effectiveness: Click Rates and Report Rates</a:t>
            </a:r>
            <a:endParaRPr b="1" i="0" spc="0" sz="2700" u="none" cap="none" strike="noStrike">
              <a:solidFill>
                <a:srgbClr val="102D5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91" name="Google Shape;91;h1a5a8d197440109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22513" y="2884008"/>
            <a:ext cx="4746654" cy="36691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h35fb697db9a1e64b_1_0"/>
          <p:cNvSpPr txBox="1"/>
          <p:nvPr/>
        </p:nvSpPr>
        <p:spPr>
          <a:xfrm>
            <a:off x="320040" y="219456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Measuring Mitigation Effectiveness</a:t>
            </a:r>
            <a:endParaRPr/>
          </a:p>
        </p:txBody>
      </p:sp>
      <p:sp>
        <p:nvSpPr>
          <p:cNvPr id="97" name="Google Shape;97;h35fb697db9a1e64b_1_0"/>
          <p:cNvSpPr txBox="1"/>
          <p:nvPr/>
        </p:nvSpPr>
        <p:spPr>
          <a:xfrm>
            <a:off x="320040" y="713232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Click rate and report rate give complementary views of phishing-simulation performance</a:t>
            </a:r>
            <a:endParaRPr/>
          </a:p>
        </p:txBody>
      </p:sp>
      <p:sp>
        <p:nvSpPr>
          <p:cNvPr id="98" name="Google Shape;98;h35fb697db9a1e64b_1_0"/>
          <p:cNvSpPr txBox="1"/>
          <p:nvPr/>
        </p:nvSpPr>
        <p:spPr>
          <a:xfrm>
            <a:off x="11631168" y="228600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5975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9" name="Google Shape;99;h35fb697db9a1e64b_1_0"/>
          <p:cNvSpPr txBox="1"/>
          <p:nvPr/>
        </p:nvSpPr>
        <p:spPr>
          <a:xfrm>
            <a:off x="502920" y="1188720"/>
            <a:ext cx="10972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1E1E1E"/>
                </a:solidFill>
              </a:rPr>
              <a:t>T</a:t>
            </a:r>
            <a:r>
              <a:rPr b="0" i="0" lang="en-US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wo metrics together </a:t>
            </a:r>
            <a:r>
              <a:rPr lang="en-US" sz="1500">
                <a:solidFill>
                  <a:srgbClr val="1E1E1E"/>
                </a:solidFill>
              </a:rPr>
              <a:t>give</a:t>
            </a:r>
            <a:r>
              <a:rPr b="0" i="0" lang="en-US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 the clearest picture of whether a phishing simulation program is improving.</a:t>
            </a:r>
            <a:endParaRPr/>
          </a:p>
        </p:txBody>
      </p:sp>
      <p:sp>
        <p:nvSpPr>
          <p:cNvPr id="100" name="Google Shape;100;h35fb697db9a1e64b_1_0"/>
          <p:cNvSpPr/>
          <p:nvPr/>
        </p:nvSpPr>
        <p:spPr>
          <a:xfrm>
            <a:off x="685800" y="1828800"/>
            <a:ext cx="5166360" cy="3200400"/>
          </a:xfrm>
          <a:prstGeom prst="roundRect">
            <a:avLst>
              <a:gd fmla="val 16667" name="adj"/>
            </a:avLst>
          </a:prstGeom>
          <a:solidFill>
            <a:srgbClr val="FCEFEB"/>
          </a:solidFill>
          <a:ln cap="flat" cmpd="sng" w="9525">
            <a:solidFill>
              <a:srgbClr val="DB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h35fb697db9a1e64b_1_0"/>
          <p:cNvSpPr txBox="1"/>
          <p:nvPr/>
        </p:nvSpPr>
        <p:spPr>
          <a:xfrm>
            <a:off x="914400" y="212140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CLICK RATE</a:t>
            </a:r>
            <a:endParaRPr/>
          </a:p>
        </p:txBody>
      </p:sp>
      <p:sp>
        <p:nvSpPr>
          <p:cNvPr id="102" name="Google Shape;102;h35fb697db9a1e64b_1_0"/>
          <p:cNvSpPr txBox="1"/>
          <p:nvPr/>
        </p:nvSpPr>
        <p:spPr>
          <a:xfrm>
            <a:off x="4663440" y="203911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D54B2E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103" name="Google Shape;103;h35fb697db9a1e64b_1_0"/>
          <p:cNvSpPr txBox="1"/>
          <p:nvPr/>
        </p:nvSpPr>
        <p:spPr>
          <a:xfrm>
            <a:off x="1005840" y="2880360"/>
            <a:ext cx="44805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Percentage of employees who clicked the simulated phishing link.</a:t>
            </a:r>
            <a:endParaRPr b="0" i="0" sz="1230" u="none" cap="none" strike="noStrike">
              <a:solidFill>
                <a:srgbClr val="1E1E1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3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3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 downward trend indicates improving judgment.</a:t>
            </a:r>
            <a:endParaRPr/>
          </a:p>
        </p:txBody>
      </p:sp>
      <p:sp>
        <p:nvSpPr>
          <p:cNvPr id="104" name="Google Shape;104;h35fb697db9a1e64b_1_0"/>
          <p:cNvSpPr/>
          <p:nvPr/>
        </p:nvSpPr>
        <p:spPr>
          <a:xfrm>
            <a:off x="6355080" y="1828800"/>
            <a:ext cx="5166360" cy="3200400"/>
          </a:xfrm>
          <a:prstGeom prst="roundRect">
            <a:avLst>
              <a:gd fmla="val 16667" name="adj"/>
            </a:avLst>
          </a:prstGeom>
          <a:solidFill>
            <a:srgbClr val="EFF7F5"/>
          </a:solidFill>
          <a:ln cap="flat" cmpd="sng" w="9525">
            <a:solidFill>
              <a:srgbClr val="DB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h35fb697db9a1e64b_1_0"/>
          <p:cNvSpPr txBox="1"/>
          <p:nvPr/>
        </p:nvSpPr>
        <p:spPr>
          <a:xfrm>
            <a:off x="6583680" y="2121408"/>
            <a:ext cx="2926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REPORT RATE</a:t>
            </a:r>
            <a:endParaRPr/>
          </a:p>
        </p:txBody>
      </p:sp>
      <p:sp>
        <p:nvSpPr>
          <p:cNvPr id="106" name="Google Shape;106;h35fb697db9a1e64b_1_0"/>
          <p:cNvSpPr txBox="1"/>
          <p:nvPr/>
        </p:nvSpPr>
        <p:spPr>
          <a:xfrm>
            <a:off x="10332720" y="2039112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67E82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endParaRPr/>
          </a:p>
        </p:txBody>
      </p:sp>
      <p:sp>
        <p:nvSpPr>
          <p:cNvPr id="107" name="Google Shape;107;h35fb697db9a1e64b_1_0"/>
          <p:cNvSpPr txBox="1"/>
          <p:nvPr/>
        </p:nvSpPr>
        <p:spPr>
          <a:xfrm>
            <a:off x="6675120" y="2880360"/>
            <a:ext cx="4480500" cy="8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3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Percentage of employees who correctly reported the simulation instead of clicking.</a:t>
            </a:r>
            <a:endParaRPr b="0" i="0" sz="1230" u="none" cap="none" strike="noStrike">
              <a:solidFill>
                <a:srgbClr val="1E1E1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23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3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An upward trend indicates stronger vigilance.</a:t>
            </a:r>
            <a:endParaRPr/>
          </a:p>
        </p:txBody>
      </p:sp>
      <p:sp>
        <p:nvSpPr>
          <p:cNvPr id="108" name="Google Shape;108;h35fb697db9a1e64b_1_0"/>
          <p:cNvSpPr txBox="1"/>
          <p:nvPr/>
        </p:nvSpPr>
        <p:spPr>
          <a:xfrm>
            <a:off x="502920" y="562356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Key Takeaway:</a:t>
            </a:r>
            <a:endParaRPr/>
          </a:p>
        </p:txBody>
      </p:sp>
      <p:sp>
        <p:nvSpPr>
          <p:cNvPr id="109" name="Google Shape;109;h35fb697db9a1e64b_1_0"/>
          <p:cNvSpPr txBox="1"/>
          <p:nvPr/>
        </p:nvSpPr>
        <p:spPr>
          <a:xfrm>
            <a:off x="1691640" y="562356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 stronger program should generally produce fewer clicks and more correct reports over time.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h35fb697db9a1e64b_1_21"/>
          <p:cNvSpPr txBox="1"/>
          <p:nvPr/>
        </p:nvSpPr>
        <p:spPr>
          <a:xfrm>
            <a:off x="320040" y="219456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Click Rate</a:t>
            </a:r>
            <a:endParaRPr/>
          </a:p>
        </p:txBody>
      </p:sp>
      <p:sp>
        <p:nvSpPr>
          <p:cNvPr id="115" name="Google Shape;115;h35fb697db9a1e64b_1_21"/>
          <p:cNvSpPr txBox="1"/>
          <p:nvPr/>
        </p:nvSpPr>
        <p:spPr>
          <a:xfrm>
            <a:off x="320040" y="713232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How often employees click the simulated phishing link</a:t>
            </a:r>
            <a:endParaRPr/>
          </a:p>
        </p:txBody>
      </p:sp>
      <p:sp>
        <p:nvSpPr>
          <p:cNvPr id="116" name="Google Shape;116;h35fb697db9a1e64b_1_21"/>
          <p:cNvSpPr txBox="1"/>
          <p:nvPr/>
        </p:nvSpPr>
        <p:spPr>
          <a:xfrm>
            <a:off x="11631168" y="228600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5975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17" name="Google Shape;117;h35fb697db9a1e64b_1_21"/>
          <p:cNvSpPr/>
          <p:nvPr/>
        </p:nvSpPr>
        <p:spPr>
          <a:xfrm>
            <a:off x="640080" y="1828800"/>
            <a:ext cx="3200400" cy="3383280"/>
          </a:xfrm>
          <a:prstGeom prst="roundRect">
            <a:avLst>
              <a:gd fmla="val 16667" name="adj"/>
            </a:avLst>
          </a:prstGeom>
          <a:solidFill>
            <a:srgbClr val="FCEFEB"/>
          </a:solidFill>
          <a:ln cap="flat" cmpd="sng" w="9525">
            <a:solidFill>
              <a:srgbClr val="DB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h35fb697db9a1e64b_1_21"/>
          <p:cNvSpPr txBox="1"/>
          <p:nvPr/>
        </p:nvSpPr>
        <p:spPr>
          <a:xfrm>
            <a:off x="914400" y="214884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CLICK RATE</a:t>
            </a:r>
            <a:endParaRPr/>
          </a:p>
        </p:txBody>
      </p:sp>
      <p:sp>
        <p:nvSpPr>
          <p:cNvPr id="119" name="Google Shape;119;h35fb697db9a1e64b_1_21"/>
          <p:cNvSpPr txBox="1"/>
          <p:nvPr/>
        </p:nvSpPr>
        <p:spPr>
          <a:xfrm>
            <a:off x="1508760" y="265176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D54B2E"/>
                </a:solidFill>
                <a:latin typeface="Arial"/>
                <a:ea typeface="Arial"/>
                <a:cs typeface="Arial"/>
                <a:sym typeface="Arial"/>
              </a:rPr>
              <a:t>↓</a:t>
            </a:r>
            <a:endParaRPr/>
          </a:p>
        </p:txBody>
      </p:sp>
      <p:sp>
        <p:nvSpPr>
          <p:cNvPr id="120" name="Google Shape;120;h35fb697db9a1e64b_1_21"/>
          <p:cNvSpPr txBox="1"/>
          <p:nvPr/>
        </p:nvSpPr>
        <p:spPr>
          <a:xfrm>
            <a:off x="914400" y="34290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97078"/>
                </a:solidFill>
                <a:latin typeface="Arial"/>
                <a:ea typeface="Arial"/>
                <a:cs typeface="Arial"/>
                <a:sym typeface="Arial"/>
              </a:rPr>
              <a:t>Desired direction</a:t>
            </a:r>
            <a:endParaRPr/>
          </a:p>
        </p:txBody>
      </p:sp>
      <p:sp>
        <p:nvSpPr>
          <p:cNvPr id="121" name="Google Shape;121;h35fb697db9a1e64b_1_21"/>
          <p:cNvSpPr txBox="1"/>
          <p:nvPr/>
        </p:nvSpPr>
        <p:spPr>
          <a:xfrm>
            <a:off x="914400" y="38404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D54B2E"/>
                </a:solidFill>
                <a:latin typeface="Arial"/>
                <a:ea typeface="Arial"/>
                <a:cs typeface="Arial"/>
                <a:sym typeface="Arial"/>
              </a:rPr>
              <a:t>LOWER OVER TIME</a:t>
            </a:r>
            <a:endParaRPr/>
          </a:p>
        </p:txBody>
      </p:sp>
      <p:sp>
        <p:nvSpPr>
          <p:cNvPr id="122" name="Google Shape;122;h35fb697db9a1e64b_1_21"/>
          <p:cNvSpPr txBox="1"/>
          <p:nvPr/>
        </p:nvSpPr>
        <p:spPr>
          <a:xfrm>
            <a:off x="914400" y="4434840"/>
            <a:ext cx="2651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Fewer employees are acting on the simulated lure.</a:t>
            </a:r>
            <a:endParaRPr/>
          </a:p>
        </p:txBody>
      </p:sp>
      <p:sp>
        <p:nvSpPr>
          <p:cNvPr id="123" name="Google Shape;123;h35fb697db9a1e64b_1_21"/>
          <p:cNvSpPr/>
          <p:nvPr/>
        </p:nvSpPr>
        <p:spPr>
          <a:xfrm>
            <a:off x="4206240" y="1828800"/>
            <a:ext cx="3429000" cy="3383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B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h35fb697db9a1e64b_1_21"/>
          <p:cNvSpPr txBox="1"/>
          <p:nvPr/>
        </p:nvSpPr>
        <p:spPr>
          <a:xfrm>
            <a:off x="4480560" y="214884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WHAT IT MEASURES</a:t>
            </a:r>
            <a:endParaRPr/>
          </a:p>
        </p:txBody>
      </p:sp>
      <p:sp>
        <p:nvSpPr>
          <p:cNvPr id="125" name="Google Shape;125;h35fb697db9a1e64b_1_21"/>
          <p:cNvSpPr txBox="1"/>
          <p:nvPr/>
        </p:nvSpPr>
        <p:spPr>
          <a:xfrm>
            <a:off x="4526280" y="278892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30" u="none" cap="none" strike="noStrike">
                <a:solidFill>
                  <a:srgbClr val="305E91"/>
                </a:solidFill>
                <a:latin typeface="Arial"/>
                <a:ea typeface="Arial"/>
                <a:cs typeface="Arial"/>
                <a:sym typeface="Arial"/>
              </a:rPr>
              <a:t>Employees who clicked</a:t>
            </a:r>
            <a:endParaRPr/>
          </a:p>
        </p:txBody>
      </p:sp>
      <p:sp>
        <p:nvSpPr>
          <p:cNvPr id="126" name="Google Shape;126;h35fb697db9a1e64b_1_21"/>
          <p:cNvSpPr txBox="1"/>
          <p:nvPr/>
        </p:nvSpPr>
        <p:spPr>
          <a:xfrm>
            <a:off x="4892040" y="3246120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97078"/>
                </a:solidFill>
                <a:latin typeface="Arial"/>
                <a:ea typeface="Arial"/>
                <a:cs typeface="Arial"/>
                <a:sym typeface="Arial"/>
              </a:rPr>
              <a:t>divided by</a:t>
            </a:r>
            <a:endParaRPr/>
          </a:p>
        </p:txBody>
      </p:sp>
      <p:sp>
        <p:nvSpPr>
          <p:cNvPr id="127" name="Google Shape;127;h35fb697db9a1e64b_1_21"/>
          <p:cNvSpPr txBox="1"/>
          <p:nvPr/>
        </p:nvSpPr>
        <p:spPr>
          <a:xfrm>
            <a:off x="4526280" y="365760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1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Employees in the simulation</a:t>
            </a:r>
            <a:endParaRPr/>
          </a:p>
        </p:txBody>
      </p:sp>
      <p:sp>
        <p:nvSpPr>
          <p:cNvPr id="128" name="Google Shape;128;h35fb697db9a1e64b_1_21"/>
          <p:cNvSpPr txBox="1"/>
          <p:nvPr/>
        </p:nvSpPr>
        <p:spPr>
          <a:xfrm>
            <a:off x="4572000" y="4297680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9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This shows the percentage of participants who interacted with the phishing link.</a:t>
            </a:r>
            <a:endParaRPr/>
          </a:p>
        </p:txBody>
      </p:sp>
      <p:sp>
        <p:nvSpPr>
          <p:cNvPr id="129" name="Google Shape;129;h35fb697db9a1e64b_1_21"/>
          <p:cNvSpPr/>
          <p:nvPr/>
        </p:nvSpPr>
        <p:spPr>
          <a:xfrm>
            <a:off x="8001000" y="1828800"/>
            <a:ext cx="3520440" cy="3383280"/>
          </a:xfrm>
          <a:prstGeom prst="roundRect">
            <a:avLst>
              <a:gd fmla="val 16667" name="adj"/>
            </a:avLst>
          </a:prstGeom>
          <a:solidFill>
            <a:srgbClr val="EEF4F9"/>
          </a:solidFill>
          <a:ln cap="flat" cmpd="sng" w="9525">
            <a:solidFill>
              <a:srgbClr val="DB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h35fb697db9a1e64b_1_21"/>
          <p:cNvSpPr txBox="1"/>
          <p:nvPr/>
        </p:nvSpPr>
        <p:spPr>
          <a:xfrm>
            <a:off x="8275320" y="214884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HOW TO READ IT</a:t>
            </a:r>
            <a:endParaRPr/>
          </a:p>
        </p:txBody>
      </p:sp>
      <p:sp>
        <p:nvSpPr>
          <p:cNvPr id="131" name="Google Shape;131;h35fb697db9a1e64b_1_21"/>
          <p:cNvSpPr txBox="1"/>
          <p:nvPr/>
        </p:nvSpPr>
        <p:spPr>
          <a:xfrm>
            <a:off x="8321040" y="2788920"/>
            <a:ext cx="2880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If the rate falls across repeated simulations, employees are becoming less likely to click.</a:t>
            </a:r>
            <a:endParaRPr/>
          </a:p>
        </p:txBody>
      </p:sp>
      <p:sp>
        <p:nvSpPr>
          <p:cNvPr id="132" name="Google Shape;132;h35fb697db9a1e64b_1_21"/>
          <p:cNvSpPr txBox="1"/>
          <p:nvPr/>
        </p:nvSpPr>
        <p:spPr>
          <a:xfrm>
            <a:off x="8366760" y="3977639"/>
            <a:ext cx="2788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05E91"/>
                </a:solidFill>
                <a:latin typeface="Arial"/>
                <a:ea typeface="Arial"/>
                <a:cs typeface="Arial"/>
                <a:sym typeface="Arial"/>
              </a:rPr>
              <a:t>Look for the trend—not just one simulation result.</a:t>
            </a:r>
            <a:endParaRPr/>
          </a:p>
        </p:txBody>
      </p:sp>
      <p:sp>
        <p:nvSpPr>
          <p:cNvPr id="133" name="Google Shape;133;h35fb697db9a1e64b_1_21"/>
          <p:cNvSpPr txBox="1"/>
          <p:nvPr/>
        </p:nvSpPr>
        <p:spPr>
          <a:xfrm>
            <a:off x="502920" y="57607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Key Takeaway:</a:t>
            </a:r>
            <a:endParaRPr/>
          </a:p>
        </p:txBody>
      </p:sp>
      <p:sp>
        <p:nvSpPr>
          <p:cNvPr id="134" name="Google Shape;134;h35fb697db9a1e64b_1_21"/>
          <p:cNvSpPr txBox="1"/>
          <p:nvPr/>
        </p:nvSpPr>
        <p:spPr>
          <a:xfrm>
            <a:off x="1691640" y="576072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 downward click-rate trend indicates improving judgment during phishing simulations.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h35fb697db9a1e64b_1_46"/>
          <p:cNvSpPr txBox="1"/>
          <p:nvPr/>
        </p:nvSpPr>
        <p:spPr>
          <a:xfrm>
            <a:off x="320040" y="219456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Report Rate</a:t>
            </a:r>
            <a:endParaRPr/>
          </a:p>
        </p:txBody>
      </p:sp>
      <p:sp>
        <p:nvSpPr>
          <p:cNvPr id="140" name="Google Shape;140;h35fb697db9a1e64b_1_46"/>
          <p:cNvSpPr txBox="1"/>
          <p:nvPr/>
        </p:nvSpPr>
        <p:spPr>
          <a:xfrm>
            <a:off x="320040" y="713232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How often employees correctly report the phishing simulation</a:t>
            </a:r>
            <a:endParaRPr/>
          </a:p>
        </p:txBody>
      </p:sp>
      <p:sp>
        <p:nvSpPr>
          <p:cNvPr id="141" name="Google Shape;141;h35fb697db9a1e64b_1_46"/>
          <p:cNvSpPr txBox="1"/>
          <p:nvPr/>
        </p:nvSpPr>
        <p:spPr>
          <a:xfrm>
            <a:off x="11631168" y="228600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5975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42" name="Google Shape;142;h35fb697db9a1e64b_1_46"/>
          <p:cNvSpPr/>
          <p:nvPr/>
        </p:nvSpPr>
        <p:spPr>
          <a:xfrm>
            <a:off x="640080" y="1828800"/>
            <a:ext cx="3200400" cy="3383280"/>
          </a:xfrm>
          <a:prstGeom prst="roundRect">
            <a:avLst>
              <a:gd fmla="val 16667" name="adj"/>
            </a:avLst>
          </a:prstGeom>
          <a:solidFill>
            <a:srgbClr val="EFF7F5"/>
          </a:solidFill>
          <a:ln cap="flat" cmpd="sng" w="9525">
            <a:solidFill>
              <a:srgbClr val="DB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h35fb697db9a1e64b_1_46"/>
          <p:cNvSpPr txBox="1"/>
          <p:nvPr/>
        </p:nvSpPr>
        <p:spPr>
          <a:xfrm>
            <a:off x="914400" y="214884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REPORT RATE</a:t>
            </a:r>
            <a:endParaRPr/>
          </a:p>
        </p:txBody>
      </p:sp>
      <p:sp>
        <p:nvSpPr>
          <p:cNvPr id="144" name="Google Shape;144;h35fb697db9a1e64b_1_46"/>
          <p:cNvSpPr txBox="1"/>
          <p:nvPr/>
        </p:nvSpPr>
        <p:spPr>
          <a:xfrm>
            <a:off x="1508760" y="2651760"/>
            <a:ext cx="14630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467E82"/>
                </a:solidFill>
                <a:latin typeface="Arial"/>
                <a:ea typeface="Arial"/>
                <a:cs typeface="Arial"/>
                <a:sym typeface="Arial"/>
              </a:rPr>
              <a:t>↑</a:t>
            </a:r>
            <a:endParaRPr/>
          </a:p>
        </p:txBody>
      </p:sp>
      <p:sp>
        <p:nvSpPr>
          <p:cNvPr id="145" name="Google Shape;145;h35fb697db9a1e64b_1_46"/>
          <p:cNvSpPr txBox="1"/>
          <p:nvPr/>
        </p:nvSpPr>
        <p:spPr>
          <a:xfrm>
            <a:off x="914400" y="3429000"/>
            <a:ext cx="2651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697078"/>
                </a:solidFill>
                <a:latin typeface="Arial"/>
                <a:ea typeface="Arial"/>
                <a:cs typeface="Arial"/>
                <a:sym typeface="Arial"/>
              </a:rPr>
              <a:t>Desired direction</a:t>
            </a:r>
            <a:endParaRPr/>
          </a:p>
        </p:txBody>
      </p:sp>
      <p:sp>
        <p:nvSpPr>
          <p:cNvPr id="146" name="Google Shape;146;h35fb697db9a1e64b_1_46"/>
          <p:cNvSpPr txBox="1"/>
          <p:nvPr/>
        </p:nvSpPr>
        <p:spPr>
          <a:xfrm>
            <a:off x="914400" y="3840480"/>
            <a:ext cx="2651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467E82"/>
                </a:solidFill>
                <a:latin typeface="Arial"/>
                <a:ea typeface="Arial"/>
                <a:cs typeface="Arial"/>
                <a:sym typeface="Arial"/>
              </a:rPr>
              <a:t>HIGHER OVER TIME</a:t>
            </a:r>
            <a:endParaRPr/>
          </a:p>
        </p:txBody>
      </p:sp>
      <p:sp>
        <p:nvSpPr>
          <p:cNvPr id="147" name="Google Shape;147;h35fb697db9a1e64b_1_46"/>
          <p:cNvSpPr txBox="1"/>
          <p:nvPr/>
        </p:nvSpPr>
        <p:spPr>
          <a:xfrm>
            <a:off x="914400" y="4407408"/>
            <a:ext cx="26517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1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More employees recognize and escalate the simulated phishing attempt.</a:t>
            </a:r>
            <a:endParaRPr/>
          </a:p>
        </p:txBody>
      </p:sp>
      <p:sp>
        <p:nvSpPr>
          <p:cNvPr id="148" name="Google Shape;148;h35fb697db9a1e64b_1_46"/>
          <p:cNvSpPr/>
          <p:nvPr/>
        </p:nvSpPr>
        <p:spPr>
          <a:xfrm>
            <a:off x="4206240" y="1828800"/>
            <a:ext cx="3429000" cy="3383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B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h35fb697db9a1e64b_1_46"/>
          <p:cNvSpPr txBox="1"/>
          <p:nvPr/>
        </p:nvSpPr>
        <p:spPr>
          <a:xfrm>
            <a:off x="4480560" y="2148840"/>
            <a:ext cx="2880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WHAT IT MEASURES</a:t>
            </a:r>
            <a:endParaRPr/>
          </a:p>
        </p:txBody>
      </p:sp>
      <p:sp>
        <p:nvSpPr>
          <p:cNvPr id="150" name="Google Shape;150;h35fb697db9a1e64b_1_46"/>
          <p:cNvSpPr txBox="1"/>
          <p:nvPr/>
        </p:nvSpPr>
        <p:spPr>
          <a:xfrm>
            <a:off x="4526280" y="278892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10" u="none" cap="none" strike="noStrike">
                <a:solidFill>
                  <a:srgbClr val="467E82"/>
                </a:solidFill>
                <a:latin typeface="Arial"/>
                <a:ea typeface="Arial"/>
                <a:cs typeface="Arial"/>
                <a:sym typeface="Arial"/>
              </a:rPr>
              <a:t>Employees who correctly reported</a:t>
            </a:r>
            <a:endParaRPr/>
          </a:p>
        </p:txBody>
      </p:sp>
      <p:sp>
        <p:nvSpPr>
          <p:cNvPr id="151" name="Google Shape;151;h35fb697db9a1e64b_1_46"/>
          <p:cNvSpPr txBox="1"/>
          <p:nvPr/>
        </p:nvSpPr>
        <p:spPr>
          <a:xfrm>
            <a:off x="4892040" y="3246120"/>
            <a:ext cx="2057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97078"/>
                </a:solidFill>
                <a:latin typeface="Arial"/>
                <a:ea typeface="Arial"/>
                <a:cs typeface="Arial"/>
                <a:sym typeface="Arial"/>
              </a:rPr>
              <a:t>divided by</a:t>
            </a:r>
            <a:endParaRPr/>
          </a:p>
        </p:txBody>
      </p:sp>
      <p:sp>
        <p:nvSpPr>
          <p:cNvPr id="152" name="Google Shape;152;h35fb697db9a1e64b_1_46"/>
          <p:cNvSpPr txBox="1"/>
          <p:nvPr/>
        </p:nvSpPr>
        <p:spPr>
          <a:xfrm>
            <a:off x="4526280" y="3657600"/>
            <a:ext cx="2788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1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Employees in the simulation</a:t>
            </a:r>
            <a:endParaRPr/>
          </a:p>
        </p:txBody>
      </p:sp>
      <p:sp>
        <p:nvSpPr>
          <p:cNvPr id="153" name="Google Shape;153;h35fb697db9a1e64b_1_46"/>
          <p:cNvSpPr txBox="1"/>
          <p:nvPr/>
        </p:nvSpPr>
        <p:spPr>
          <a:xfrm>
            <a:off x="4572000" y="4297680"/>
            <a:ext cx="269748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9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This shows how often employees actively respond to the simulated threat.</a:t>
            </a:r>
            <a:endParaRPr/>
          </a:p>
        </p:txBody>
      </p:sp>
      <p:sp>
        <p:nvSpPr>
          <p:cNvPr id="154" name="Google Shape;154;h35fb697db9a1e64b_1_46"/>
          <p:cNvSpPr/>
          <p:nvPr/>
        </p:nvSpPr>
        <p:spPr>
          <a:xfrm>
            <a:off x="8001000" y="1828800"/>
            <a:ext cx="3520440" cy="3383280"/>
          </a:xfrm>
          <a:prstGeom prst="roundRect">
            <a:avLst>
              <a:gd fmla="val 16667" name="adj"/>
            </a:avLst>
          </a:prstGeom>
          <a:solidFill>
            <a:srgbClr val="EEF4F9"/>
          </a:solidFill>
          <a:ln cap="flat" cmpd="sng" w="9525">
            <a:solidFill>
              <a:srgbClr val="DB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h35fb697db9a1e64b_1_46"/>
          <p:cNvSpPr txBox="1"/>
          <p:nvPr/>
        </p:nvSpPr>
        <p:spPr>
          <a:xfrm>
            <a:off x="8275320" y="2148840"/>
            <a:ext cx="2971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WHY IT MATTERS</a:t>
            </a:r>
            <a:endParaRPr/>
          </a:p>
        </p:txBody>
      </p:sp>
      <p:sp>
        <p:nvSpPr>
          <p:cNvPr id="156" name="Google Shape;156;h35fb697db9a1e64b_1_46"/>
          <p:cNvSpPr txBox="1"/>
          <p:nvPr/>
        </p:nvSpPr>
        <p:spPr>
          <a:xfrm>
            <a:off x="8321040" y="2788920"/>
            <a:ext cx="288036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8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 rising rate suggests a strengthening culture of vigilance and reporting.</a:t>
            </a:r>
            <a:endParaRPr/>
          </a:p>
        </p:txBody>
      </p:sp>
      <p:sp>
        <p:nvSpPr>
          <p:cNvPr id="157" name="Google Shape;157;h35fb697db9a1e64b_1_46"/>
          <p:cNvSpPr txBox="1"/>
          <p:nvPr/>
        </p:nvSpPr>
        <p:spPr>
          <a:xfrm>
            <a:off x="8366760" y="3840480"/>
            <a:ext cx="2788800" cy="4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80">
                <a:solidFill>
                  <a:srgbClr val="305E91"/>
                </a:solidFill>
              </a:rPr>
              <a:t>T</a:t>
            </a:r>
            <a:r>
              <a:rPr b="1" i="0" lang="en-US" sz="1180" u="none" cap="none" strike="noStrike">
                <a:solidFill>
                  <a:srgbClr val="305E91"/>
                </a:solidFill>
                <a:latin typeface="Arial"/>
                <a:ea typeface="Arial"/>
                <a:cs typeface="Arial"/>
                <a:sym typeface="Arial"/>
              </a:rPr>
              <a:t>his can be even more valuable than seeing click rate fall by itself.</a:t>
            </a:r>
            <a:endParaRPr/>
          </a:p>
        </p:txBody>
      </p:sp>
      <p:sp>
        <p:nvSpPr>
          <p:cNvPr id="158" name="Google Shape;158;h35fb697db9a1e64b_1_46"/>
          <p:cNvSpPr txBox="1"/>
          <p:nvPr/>
        </p:nvSpPr>
        <p:spPr>
          <a:xfrm>
            <a:off x="502920" y="57607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Key Takeaway:</a:t>
            </a:r>
            <a:endParaRPr/>
          </a:p>
        </p:txBody>
      </p:sp>
      <p:sp>
        <p:nvSpPr>
          <p:cNvPr id="159" name="Google Shape;159;h35fb697db9a1e64b_1_46"/>
          <p:cNvSpPr txBox="1"/>
          <p:nvPr/>
        </p:nvSpPr>
        <p:spPr>
          <a:xfrm>
            <a:off x="1691640" y="576072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 higher report rate shows employees are not only avoiding the lure—they are taking the correct defensive action.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9FAFC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h35fb697db9a1e64b_1_71"/>
          <p:cNvSpPr txBox="1"/>
          <p:nvPr/>
        </p:nvSpPr>
        <p:spPr>
          <a:xfrm>
            <a:off x="320040" y="219456"/>
            <a:ext cx="108813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Why the Two Metrics Belong Together</a:t>
            </a:r>
            <a:endParaRPr/>
          </a:p>
        </p:txBody>
      </p:sp>
      <p:sp>
        <p:nvSpPr>
          <p:cNvPr id="165" name="Google Shape;165;h35fb697db9a1e64b_1_71"/>
          <p:cNvSpPr txBox="1"/>
          <p:nvPr/>
        </p:nvSpPr>
        <p:spPr>
          <a:xfrm>
            <a:off x="320040" y="713232"/>
            <a:ext cx="10698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Click rate measures risky action; report rate measures the desired defensive response</a:t>
            </a:r>
            <a:endParaRPr/>
          </a:p>
        </p:txBody>
      </p:sp>
      <p:sp>
        <p:nvSpPr>
          <p:cNvPr id="166" name="Google Shape;166;h35fb697db9a1e64b_1_71"/>
          <p:cNvSpPr txBox="1"/>
          <p:nvPr/>
        </p:nvSpPr>
        <p:spPr>
          <a:xfrm>
            <a:off x="11631168" y="228600"/>
            <a:ext cx="228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85975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67" name="Google Shape;167;h35fb697db9a1e64b_1_71"/>
          <p:cNvSpPr txBox="1"/>
          <p:nvPr/>
        </p:nvSpPr>
        <p:spPr>
          <a:xfrm>
            <a:off x="502920" y="1188720"/>
            <a:ext cx="109728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Looking at only one metric can miss part of the behavior the simulation is trying to improve.</a:t>
            </a:r>
            <a:endParaRPr/>
          </a:p>
        </p:txBody>
      </p:sp>
      <p:sp>
        <p:nvSpPr>
          <p:cNvPr id="168" name="Google Shape;168;h35fb697db9a1e64b_1_71"/>
          <p:cNvSpPr/>
          <p:nvPr/>
        </p:nvSpPr>
        <p:spPr>
          <a:xfrm>
            <a:off x="777240" y="2331720"/>
            <a:ext cx="5166360" cy="1143000"/>
          </a:xfrm>
          <a:prstGeom prst="roundRect">
            <a:avLst>
              <a:gd fmla="val 16667" name="adj"/>
            </a:avLst>
          </a:prstGeom>
          <a:solidFill>
            <a:srgbClr val="EFF7F5"/>
          </a:solidFill>
          <a:ln cap="flat" cmpd="sng" w="9525">
            <a:solidFill>
              <a:srgbClr val="DB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h35fb697db9a1e64b_1_71"/>
          <p:cNvSpPr txBox="1"/>
          <p:nvPr/>
        </p:nvSpPr>
        <p:spPr>
          <a:xfrm>
            <a:off x="1005840" y="2560320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LOW CLICKS + HIGH REPORTS</a:t>
            </a:r>
            <a:endParaRPr/>
          </a:p>
        </p:txBody>
      </p:sp>
      <p:sp>
        <p:nvSpPr>
          <p:cNvPr id="170" name="Google Shape;170;h35fb697db9a1e64b_1_71"/>
          <p:cNvSpPr txBox="1"/>
          <p:nvPr/>
        </p:nvSpPr>
        <p:spPr>
          <a:xfrm>
            <a:off x="1097280" y="2926080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Best signal: employees avoid the lure and actively report it.</a:t>
            </a:r>
            <a:endParaRPr/>
          </a:p>
        </p:txBody>
      </p:sp>
      <p:sp>
        <p:nvSpPr>
          <p:cNvPr id="171" name="Google Shape;171;h35fb697db9a1e64b_1_71"/>
          <p:cNvSpPr/>
          <p:nvPr/>
        </p:nvSpPr>
        <p:spPr>
          <a:xfrm>
            <a:off x="6263640" y="2331720"/>
            <a:ext cx="5166360" cy="1143000"/>
          </a:xfrm>
          <a:prstGeom prst="roundRect">
            <a:avLst>
              <a:gd fmla="val 16667" name="adj"/>
            </a:avLst>
          </a:prstGeom>
          <a:solidFill>
            <a:srgbClr val="FCEFEB"/>
          </a:solidFill>
          <a:ln cap="flat" cmpd="sng" w="9525">
            <a:solidFill>
              <a:srgbClr val="DB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h35fb697db9a1e64b_1_71"/>
          <p:cNvSpPr txBox="1"/>
          <p:nvPr/>
        </p:nvSpPr>
        <p:spPr>
          <a:xfrm>
            <a:off x="6492240" y="2560320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LOW CLICKS + LOW REPORTS</a:t>
            </a:r>
            <a:endParaRPr/>
          </a:p>
        </p:txBody>
      </p:sp>
      <p:sp>
        <p:nvSpPr>
          <p:cNvPr id="173" name="Google Shape;173;h35fb697db9a1e64b_1_71"/>
          <p:cNvSpPr txBox="1"/>
          <p:nvPr/>
        </p:nvSpPr>
        <p:spPr>
          <a:xfrm>
            <a:off x="6583680" y="2926080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Employees may avoid clicking, but reporting behavior is still weak.</a:t>
            </a:r>
            <a:endParaRPr/>
          </a:p>
        </p:txBody>
      </p:sp>
      <p:sp>
        <p:nvSpPr>
          <p:cNvPr id="174" name="Google Shape;174;h35fb697db9a1e64b_1_71"/>
          <p:cNvSpPr/>
          <p:nvPr/>
        </p:nvSpPr>
        <p:spPr>
          <a:xfrm>
            <a:off x="777240" y="3794760"/>
            <a:ext cx="5166360" cy="1143000"/>
          </a:xfrm>
          <a:prstGeom prst="roundRect">
            <a:avLst>
              <a:gd fmla="val 16667" name="adj"/>
            </a:avLst>
          </a:prstGeom>
          <a:solidFill>
            <a:srgbClr val="FCEFEB"/>
          </a:solidFill>
          <a:ln cap="flat" cmpd="sng" w="9525">
            <a:solidFill>
              <a:srgbClr val="DB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h35fb697db9a1e64b_1_71"/>
          <p:cNvSpPr txBox="1"/>
          <p:nvPr/>
        </p:nvSpPr>
        <p:spPr>
          <a:xfrm>
            <a:off x="1005840" y="4023360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HIGH CLICKS + HIGH REPORTS</a:t>
            </a:r>
            <a:endParaRPr/>
          </a:p>
        </p:txBody>
      </p:sp>
      <p:sp>
        <p:nvSpPr>
          <p:cNvPr id="176" name="Google Shape;176;h35fb697db9a1e64b_1_71"/>
          <p:cNvSpPr txBox="1"/>
          <p:nvPr/>
        </p:nvSpPr>
        <p:spPr>
          <a:xfrm>
            <a:off x="1097280" y="4389120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Awareness exists, but too many employees still interact with the lure.</a:t>
            </a:r>
            <a:endParaRPr/>
          </a:p>
        </p:txBody>
      </p:sp>
      <p:sp>
        <p:nvSpPr>
          <p:cNvPr id="177" name="Google Shape;177;h35fb697db9a1e64b_1_71"/>
          <p:cNvSpPr/>
          <p:nvPr/>
        </p:nvSpPr>
        <p:spPr>
          <a:xfrm>
            <a:off x="6263640" y="3794760"/>
            <a:ext cx="5166360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BE0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h35fb697db9a1e64b_1_71"/>
          <p:cNvSpPr txBox="1"/>
          <p:nvPr/>
        </p:nvSpPr>
        <p:spPr>
          <a:xfrm>
            <a:off x="6492240" y="4023360"/>
            <a:ext cx="4709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HIGH CLICKS + LOW REPORTS</a:t>
            </a:r>
            <a:endParaRPr/>
          </a:p>
        </p:txBody>
      </p:sp>
      <p:sp>
        <p:nvSpPr>
          <p:cNvPr id="179" name="Google Shape;179;h35fb697db9a1e64b_1_71"/>
          <p:cNvSpPr txBox="1"/>
          <p:nvPr/>
        </p:nvSpPr>
        <p:spPr>
          <a:xfrm>
            <a:off x="6583680" y="4389120"/>
            <a:ext cx="4526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3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Weakest combination: risky interaction remains high and escalation remains low.</a:t>
            </a:r>
            <a:endParaRPr/>
          </a:p>
        </p:txBody>
      </p:sp>
      <p:sp>
        <p:nvSpPr>
          <p:cNvPr id="180" name="Google Shape;180;h35fb697db9a1e64b_1_71"/>
          <p:cNvSpPr txBox="1"/>
          <p:nvPr/>
        </p:nvSpPr>
        <p:spPr>
          <a:xfrm>
            <a:off x="502920" y="57150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50" u="none" cap="none" strike="noStrike">
                <a:solidFill>
                  <a:srgbClr val="102D54"/>
                </a:solidFill>
                <a:latin typeface="Arial"/>
                <a:ea typeface="Arial"/>
                <a:cs typeface="Arial"/>
                <a:sym typeface="Arial"/>
              </a:rPr>
              <a:t>Key Takeaway:</a:t>
            </a:r>
            <a:endParaRPr/>
          </a:p>
        </p:txBody>
      </p:sp>
      <p:sp>
        <p:nvSpPr>
          <p:cNvPr id="181" name="Google Shape;181;h35fb697db9a1e64b_1_71"/>
          <p:cNvSpPr txBox="1"/>
          <p:nvPr/>
        </p:nvSpPr>
        <p:spPr>
          <a:xfrm>
            <a:off x="1691640" y="5715000"/>
            <a:ext cx="9875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E1E1E"/>
                </a:solidFill>
                <a:latin typeface="Arial"/>
                <a:ea typeface="Arial"/>
                <a:cs typeface="Arial"/>
                <a:sym typeface="Arial"/>
              </a:rPr>
              <a:t>The clearest improvement is movement toward lower click rates and higher report rates at the same time.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